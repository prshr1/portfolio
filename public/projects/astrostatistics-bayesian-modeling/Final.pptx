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Pontano Sans"/>
      <p:regular r:id="rId9"/>
      <p:bold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PontanoSans-bold.fntdata"/><Relationship Id="rId9" Type="http://schemas.openxmlformats.org/officeDocument/2006/relationships/font" Target="fonts/PontanoSans-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e27efea09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e27efea09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082152f1d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082152f1d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png"/><Relationship Id="rId10" Type="http://schemas.openxmlformats.org/officeDocument/2006/relationships/image" Target="../media/image5.png"/><Relationship Id="rId9"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11.png"/><Relationship Id="rId8"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368263" y="1258250"/>
            <a:ext cx="3894583" cy="2497125"/>
          </a:xfrm>
          <a:prstGeom prst="rect">
            <a:avLst/>
          </a:prstGeom>
          <a:noFill/>
          <a:ln>
            <a:noFill/>
          </a:ln>
        </p:spPr>
      </p:pic>
      <p:sp>
        <p:nvSpPr>
          <p:cNvPr id="55" name="Google Shape;55;p13"/>
          <p:cNvSpPr/>
          <p:nvPr/>
        </p:nvSpPr>
        <p:spPr>
          <a:xfrm>
            <a:off x="1180500" y="134750"/>
            <a:ext cx="6783000" cy="5850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4843512" y="1240075"/>
            <a:ext cx="3969875" cy="2533475"/>
          </a:xfrm>
          <a:prstGeom prst="rect">
            <a:avLst/>
          </a:prstGeom>
          <a:noFill/>
          <a:ln>
            <a:noFill/>
          </a:ln>
        </p:spPr>
      </p:pic>
      <p:sp>
        <p:nvSpPr>
          <p:cNvPr id="57" name="Google Shape;57;p13"/>
          <p:cNvSpPr txBox="1"/>
          <p:nvPr/>
        </p:nvSpPr>
        <p:spPr>
          <a:xfrm>
            <a:off x="44925" y="134750"/>
            <a:ext cx="9144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600">
                <a:latin typeface="Pontano Sans"/>
                <a:ea typeface="Pontano Sans"/>
                <a:cs typeface="Pontano Sans"/>
                <a:sym typeface="Pontano Sans"/>
              </a:rPr>
              <a:t>Ind. Project: Dark Matter</a:t>
            </a:r>
            <a:r>
              <a:rPr lang="en" sz="2600">
                <a:latin typeface="Pontano Sans"/>
                <a:ea typeface="Pontano Sans"/>
                <a:cs typeface="Pontano Sans"/>
                <a:sym typeface="Pontano Sans"/>
              </a:rPr>
              <a:t> - </a:t>
            </a:r>
            <a:r>
              <a:rPr lang="en" sz="2600">
                <a:solidFill>
                  <a:schemeClr val="dk1"/>
                </a:solidFill>
                <a:latin typeface="Pontano Sans"/>
                <a:ea typeface="Pontano Sans"/>
                <a:cs typeface="Pontano Sans"/>
                <a:sym typeface="Pontano Sans"/>
              </a:rPr>
              <a:t>Jorge Casas</a:t>
            </a:r>
            <a:endParaRPr sz="2600">
              <a:latin typeface="Pontano Sans"/>
              <a:ea typeface="Pontano Sans"/>
              <a:cs typeface="Pontano Sans"/>
              <a:sym typeface="Pontano Sans"/>
            </a:endParaRPr>
          </a:p>
        </p:txBody>
      </p:sp>
      <p:sp>
        <p:nvSpPr>
          <p:cNvPr id="58" name="Google Shape;58;p13"/>
          <p:cNvSpPr txBox="1"/>
          <p:nvPr/>
        </p:nvSpPr>
        <p:spPr>
          <a:xfrm>
            <a:off x="387300" y="719750"/>
            <a:ext cx="83694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latin typeface="Pontano Sans"/>
                <a:ea typeface="Pontano Sans"/>
                <a:cs typeface="Pontano Sans"/>
                <a:sym typeface="Pontano Sans"/>
              </a:rPr>
              <a:t>The overall objective of the code is to fit different models to observed galactic rotation curves, compare their statistical performance using BIC and AIC values, and determine the minimum data required to distinguish between the models.</a:t>
            </a:r>
            <a:endParaRPr b="1" sz="1300">
              <a:latin typeface="Pontano Sans"/>
              <a:ea typeface="Pontano Sans"/>
              <a:cs typeface="Pontano Sans"/>
              <a:sym typeface="Pontano Sans"/>
            </a:endParaRPr>
          </a:p>
        </p:txBody>
      </p:sp>
      <p:sp>
        <p:nvSpPr>
          <p:cNvPr id="59" name="Google Shape;59;p13"/>
          <p:cNvSpPr/>
          <p:nvPr/>
        </p:nvSpPr>
        <p:spPr>
          <a:xfrm>
            <a:off x="4985850" y="3755375"/>
            <a:ext cx="3685200" cy="12621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txBox="1"/>
          <p:nvPr/>
        </p:nvSpPr>
        <p:spPr>
          <a:xfrm>
            <a:off x="4985850" y="3786125"/>
            <a:ext cx="3685200" cy="120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1"/>
                </a:solidFill>
                <a:latin typeface="Pontano Sans"/>
                <a:ea typeface="Pontano Sans"/>
                <a:cs typeface="Pontano Sans"/>
                <a:sym typeface="Pontano Sans"/>
              </a:rPr>
              <a:t>W</a:t>
            </a:r>
            <a:r>
              <a:rPr lang="en" sz="1100">
                <a:solidFill>
                  <a:schemeClr val="dk1"/>
                </a:solidFill>
                <a:latin typeface="Pontano Sans"/>
                <a:ea typeface="Pontano Sans"/>
                <a:cs typeface="Pontano Sans"/>
                <a:sym typeface="Pontano Sans"/>
              </a:rPr>
              <a:t>e looked at the consistency of estimates for a critical acceleration parameter, </a:t>
            </a:r>
            <a:r>
              <a:rPr b="1" lang="en" sz="1100">
                <a:solidFill>
                  <a:schemeClr val="dk1"/>
                </a:solidFill>
                <a:latin typeface="Pontano Sans"/>
                <a:ea typeface="Pontano Sans"/>
                <a:cs typeface="Pontano Sans"/>
                <a:sym typeface="Pontano Sans"/>
              </a:rPr>
              <a:t>acrit</a:t>
            </a:r>
            <a:r>
              <a:rPr lang="en" sz="1100">
                <a:solidFill>
                  <a:schemeClr val="dk1"/>
                </a:solidFill>
                <a:latin typeface="Pontano Sans"/>
                <a:ea typeface="Pontano Sans"/>
                <a:cs typeface="Pontano Sans"/>
                <a:sym typeface="Pontano Sans"/>
              </a:rPr>
              <a:t>. We also looked into synthesizing a hypothetical dataset with smaller errors to differentiate between the Cold Dark Matter (CDM) and Modified Newtonian Dynamics (MOND) models with a </a:t>
            </a:r>
            <a:r>
              <a:rPr b="1" lang="en" sz="1100">
                <a:solidFill>
                  <a:schemeClr val="dk1"/>
                </a:solidFill>
                <a:latin typeface="Pontano Sans"/>
                <a:ea typeface="Pontano Sans"/>
                <a:cs typeface="Pontano Sans"/>
                <a:sym typeface="Pontano Sans"/>
              </a:rPr>
              <a:t>5σ level of confidence.</a:t>
            </a:r>
            <a:endParaRPr b="1" sz="1100">
              <a:solidFill>
                <a:schemeClr val="dk1"/>
              </a:solidFill>
              <a:latin typeface="Pontano Sans"/>
              <a:ea typeface="Pontano Sans"/>
              <a:cs typeface="Pontano Sans"/>
              <a:sym typeface="Pontano Sans"/>
            </a:endParaRPr>
          </a:p>
        </p:txBody>
      </p:sp>
      <p:sp>
        <p:nvSpPr>
          <p:cNvPr id="61" name="Google Shape;61;p13"/>
          <p:cNvSpPr/>
          <p:nvPr/>
        </p:nvSpPr>
        <p:spPr>
          <a:xfrm>
            <a:off x="472950" y="3755375"/>
            <a:ext cx="3685200" cy="12621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txBox="1"/>
          <p:nvPr/>
        </p:nvSpPr>
        <p:spPr>
          <a:xfrm>
            <a:off x="586213" y="3786125"/>
            <a:ext cx="3458700" cy="120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Pontano Sans"/>
                <a:ea typeface="Pontano Sans"/>
                <a:cs typeface="Pontano Sans"/>
                <a:sym typeface="Pontano Sans"/>
              </a:rPr>
              <a:t>We </a:t>
            </a:r>
            <a:r>
              <a:rPr lang="en" sz="1100">
                <a:solidFill>
                  <a:schemeClr val="dk1"/>
                </a:solidFill>
                <a:latin typeface="Pontano Sans"/>
                <a:ea typeface="Pontano Sans"/>
                <a:cs typeface="Pontano Sans"/>
                <a:sym typeface="Pontano Sans"/>
              </a:rPr>
              <a:t>first</a:t>
            </a:r>
            <a:r>
              <a:rPr lang="en" sz="1100">
                <a:solidFill>
                  <a:schemeClr val="dk1"/>
                </a:solidFill>
                <a:latin typeface="Pontano Sans"/>
                <a:ea typeface="Pontano Sans"/>
                <a:cs typeface="Pontano Sans"/>
                <a:sym typeface="Pontano Sans"/>
              </a:rPr>
              <a:t> examine two models: the </a:t>
            </a:r>
            <a:r>
              <a:rPr b="1" lang="en" sz="1100">
                <a:solidFill>
                  <a:schemeClr val="dk1"/>
                </a:solidFill>
                <a:latin typeface="Pontano Sans"/>
                <a:ea typeface="Pontano Sans"/>
                <a:cs typeface="Pontano Sans"/>
                <a:sym typeface="Pontano Sans"/>
              </a:rPr>
              <a:t>disk, halo, disk+halo model</a:t>
            </a:r>
            <a:r>
              <a:rPr lang="en" sz="1100">
                <a:solidFill>
                  <a:schemeClr val="dk1"/>
                </a:solidFill>
                <a:latin typeface="Pontano Sans"/>
                <a:ea typeface="Pontano Sans"/>
                <a:cs typeface="Pontano Sans"/>
                <a:sym typeface="Pontano Sans"/>
              </a:rPr>
              <a:t> and the </a:t>
            </a:r>
            <a:r>
              <a:rPr b="1" lang="en" sz="1100">
                <a:solidFill>
                  <a:schemeClr val="dk1"/>
                </a:solidFill>
                <a:latin typeface="Pontano Sans"/>
                <a:ea typeface="Pontano Sans"/>
                <a:cs typeface="Pontano Sans"/>
                <a:sym typeface="Pontano Sans"/>
              </a:rPr>
              <a:t>MOND disk model</a:t>
            </a:r>
            <a:r>
              <a:rPr lang="en" sz="1100">
                <a:solidFill>
                  <a:schemeClr val="dk1"/>
                </a:solidFill>
                <a:latin typeface="Pontano Sans"/>
                <a:ea typeface="Pontano Sans"/>
                <a:cs typeface="Pontano Sans"/>
                <a:sym typeface="Pontano Sans"/>
              </a:rPr>
              <a:t>, and evaluated the performance of these models in describing the observed data and to determine the most suitable model for each individual galaxy. The MOND model was the preferred model choice, and the </a:t>
            </a:r>
            <a:r>
              <a:rPr b="1" lang="en" sz="1100">
                <a:solidFill>
                  <a:schemeClr val="dk1"/>
                </a:solidFill>
                <a:latin typeface="Pontano Sans"/>
                <a:ea typeface="Pontano Sans"/>
                <a:cs typeface="Pontano Sans"/>
                <a:sym typeface="Pontano Sans"/>
              </a:rPr>
              <a:t>Eq.</a:t>
            </a:r>
            <a:r>
              <a:rPr lang="en" sz="1100">
                <a:solidFill>
                  <a:schemeClr val="dk1"/>
                </a:solidFill>
                <a:latin typeface="Pontano Sans"/>
                <a:ea typeface="Pontano Sans"/>
                <a:cs typeface="Pontano Sans"/>
                <a:sym typeface="Pontano Sans"/>
              </a:rPr>
              <a:t> is copied above.</a:t>
            </a:r>
            <a:endParaRPr sz="1100">
              <a:solidFill>
                <a:schemeClr val="dk1"/>
              </a:solidFill>
              <a:latin typeface="Pontano Sans"/>
              <a:ea typeface="Pontano Sans"/>
              <a:cs typeface="Pontano Sans"/>
              <a:sym typeface="Pontano Sans"/>
            </a:endParaRPr>
          </a:p>
        </p:txBody>
      </p:sp>
      <p:pic>
        <p:nvPicPr>
          <p:cNvPr id="63" name="Google Shape;63;p13"/>
          <p:cNvPicPr preferRelativeResize="0"/>
          <p:nvPr/>
        </p:nvPicPr>
        <p:blipFill>
          <a:blip r:embed="rId5">
            <a:alphaModFix/>
          </a:blip>
          <a:stretch>
            <a:fillRect/>
          </a:stretch>
        </p:blipFill>
        <p:spPr>
          <a:xfrm>
            <a:off x="1338475" y="2200525"/>
            <a:ext cx="2511651" cy="659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14"/>
          <p:cNvSpPr/>
          <p:nvPr/>
        </p:nvSpPr>
        <p:spPr>
          <a:xfrm>
            <a:off x="380700" y="168350"/>
            <a:ext cx="4191300" cy="738900"/>
          </a:xfrm>
          <a:prstGeom prst="roundRect">
            <a:avLst>
              <a:gd fmla="val 14073"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txBox="1"/>
          <p:nvPr/>
        </p:nvSpPr>
        <p:spPr>
          <a:xfrm>
            <a:off x="380706" y="158600"/>
            <a:ext cx="41913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Pontano Sans"/>
                <a:ea typeface="Pontano Sans"/>
                <a:cs typeface="Pontano Sans"/>
                <a:sym typeface="Pontano Sans"/>
              </a:rPr>
              <a:t>Below are the resulting </a:t>
            </a:r>
            <a:r>
              <a:rPr b="1" lang="en" sz="1200">
                <a:solidFill>
                  <a:schemeClr val="dk1"/>
                </a:solidFill>
                <a:latin typeface="Pontano Sans"/>
                <a:ea typeface="Pontano Sans"/>
                <a:cs typeface="Pontano Sans"/>
                <a:sym typeface="Pontano Sans"/>
              </a:rPr>
              <a:t>Red. χ2, BIC, and AIC</a:t>
            </a:r>
            <a:r>
              <a:rPr lang="en" sz="1200">
                <a:solidFill>
                  <a:schemeClr val="dk1"/>
                </a:solidFill>
                <a:latin typeface="Pontano Sans"/>
                <a:ea typeface="Pontano Sans"/>
                <a:cs typeface="Pontano Sans"/>
                <a:sym typeface="Pontano Sans"/>
              </a:rPr>
              <a:t> values for each of the galaxy rotation curves calculated from the </a:t>
            </a:r>
            <a:r>
              <a:rPr b="1" lang="en" sz="1200">
                <a:solidFill>
                  <a:schemeClr val="dk1"/>
                </a:solidFill>
                <a:latin typeface="Pontano Sans"/>
                <a:ea typeface="Pontano Sans"/>
                <a:cs typeface="Pontano Sans"/>
                <a:sym typeface="Pontano Sans"/>
              </a:rPr>
              <a:t>χ2 minimization</a:t>
            </a:r>
            <a:r>
              <a:rPr lang="en" sz="1200">
                <a:solidFill>
                  <a:schemeClr val="dk1"/>
                </a:solidFill>
                <a:latin typeface="Pontano Sans"/>
                <a:ea typeface="Pontano Sans"/>
                <a:cs typeface="Pontano Sans"/>
                <a:sym typeface="Pontano Sans"/>
              </a:rPr>
              <a:t>. </a:t>
            </a:r>
            <a:endParaRPr b="1" baseline="-25000" sz="1200">
              <a:solidFill>
                <a:schemeClr val="dk1"/>
              </a:solidFill>
              <a:latin typeface="Pontano Sans"/>
              <a:ea typeface="Pontano Sans"/>
              <a:cs typeface="Pontano Sans"/>
              <a:sym typeface="Pontano Sans"/>
            </a:endParaRPr>
          </a:p>
        </p:txBody>
      </p:sp>
      <p:sp>
        <p:nvSpPr>
          <p:cNvPr id="70" name="Google Shape;70;p14"/>
          <p:cNvSpPr/>
          <p:nvPr/>
        </p:nvSpPr>
        <p:spPr>
          <a:xfrm>
            <a:off x="5069200" y="3868125"/>
            <a:ext cx="3695400" cy="11082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txBox="1"/>
          <p:nvPr/>
        </p:nvSpPr>
        <p:spPr>
          <a:xfrm>
            <a:off x="5088688" y="3868275"/>
            <a:ext cx="36954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Pontano Sans"/>
                <a:ea typeface="Pontano Sans"/>
                <a:cs typeface="Pontano Sans"/>
                <a:sym typeface="Pontano Sans"/>
              </a:rPr>
              <a:t>An MCMC algorithm was also used to independently validate the best fitting parameters for the MOND models. Pictured above is one sample of the posteriors for each of the parameters </a:t>
            </a:r>
            <a:r>
              <a:rPr b="1" lang="en" sz="1200">
                <a:solidFill>
                  <a:schemeClr val="dk1"/>
                </a:solidFill>
                <a:latin typeface="Pontano Sans"/>
                <a:ea typeface="Pontano Sans"/>
                <a:cs typeface="Pontano Sans"/>
                <a:sym typeface="Pontano Sans"/>
              </a:rPr>
              <a:t>Rdisk, Mdisk, and acrit</a:t>
            </a:r>
            <a:r>
              <a:rPr lang="en" sz="1200">
                <a:solidFill>
                  <a:schemeClr val="dk1"/>
                </a:solidFill>
                <a:latin typeface="Pontano Sans"/>
                <a:ea typeface="Pontano Sans"/>
                <a:cs typeface="Pontano Sans"/>
                <a:sym typeface="Pontano Sans"/>
              </a:rPr>
              <a:t> for the </a:t>
            </a:r>
            <a:r>
              <a:rPr b="1" lang="en" sz="1200">
                <a:solidFill>
                  <a:schemeClr val="dk1"/>
                </a:solidFill>
                <a:latin typeface="Pontano Sans"/>
                <a:ea typeface="Pontano Sans"/>
                <a:cs typeface="Pontano Sans"/>
                <a:sym typeface="Pontano Sans"/>
              </a:rPr>
              <a:t>NGC3198</a:t>
            </a:r>
            <a:r>
              <a:rPr lang="en" sz="1200">
                <a:solidFill>
                  <a:schemeClr val="dk1"/>
                </a:solidFill>
                <a:latin typeface="Pontano Sans"/>
                <a:ea typeface="Pontano Sans"/>
                <a:cs typeface="Pontano Sans"/>
                <a:sym typeface="Pontano Sans"/>
              </a:rPr>
              <a:t> galaxy rotation curve.</a:t>
            </a:r>
            <a:endParaRPr sz="1200">
              <a:solidFill>
                <a:schemeClr val="dk1"/>
              </a:solidFill>
              <a:latin typeface="Pontano Sans"/>
              <a:ea typeface="Pontano Sans"/>
              <a:cs typeface="Pontano Sans"/>
              <a:sym typeface="Pontano Sans"/>
            </a:endParaRPr>
          </a:p>
        </p:txBody>
      </p:sp>
      <p:pic>
        <p:nvPicPr>
          <p:cNvPr id="72" name="Google Shape;72;p14"/>
          <p:cNvPicPr preferRelativeResize="0"/>
          <p:nvPr/>
        </p:nvPicPr>
        <p:blipFill>
          <a:blip r:embed="rId3">
            <a:alphaModFix/>
          </a:blip>
          <a:stretch>
            <a:fillRect/>
          </a:stretch>
        </p:blipFill>
        <p:spPr>
          <a:xfrm>
            <a:off x="5075054" y="0"/>
            <a:ext cx="3722684" cy="3868275"/>
          </a:xfrm>
          <a:prstGeom prst="rect">
            <a:avLst/>
          </a:prstGeom>
          <a:noFill/>
          <a:ln>
            <a:noFill/>
          </a:ln>
        </p:spPr>
      </p:pic>
      <p:pic>
        <p:nvPicPr>
          <p:cNvPr id="73" name="Google Shape;73;p14"/>
          <p:cNvPicPr preferRelativeResize="0"/>
          <p:nvPr/>
        </p:nvPicPr>
        <p:blipFill>
          <a:blip r:embed="rId4">
            <a:alphaModFix/>
          </a:blip>
          <a:stretch>
            <a:fillRect/>
          </a:stretch>
        </p:blipFill>
        <p:spPr>
          <a:xfrm>
            <a:off x="1038525" y="1050227"/>
            <a:ext cx="2875650" cy="1388800"/>
          </a:xfrm>
          <a:prstGeom prst="rect">
            <a:avLst/>
          </a:prstGeom>
          <a:noFill/>
          <a:ln>
            <a:noFill/>
          </a:ln>
        </p:spPr>
      </p:pic>
      <p:sp>
        <p:nvSpPr>
          <p:cNvPr id="74" name="Google Shape;74;p14"/>
          <p:cNvSpPr txBox="1"/>
          <p:nvPr/>
        </p:nvSpPr>
        <p:spPr>
          <a:xfrm>
            <a:off x="6732394" y="168350"/>
            <a:ext cx="2032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Pontano Sans"/>
                <a:ea typeface="Pontano Sans"/>
                <a:cs typeface="Pontano Sans"/>
                <a:sym typeface="Pontano Sans"/>
              </a:rPr>
              <a:t>NGC3198 </a:t>
            </a:r>
            <a:endParaRPr b="1" sz="1200">
              <a:solidFill>
                <a:schemeClr val="dk1"/>
              </a:solidFill>
              <a:latin typeface="Pontano Sans"/>
              <a:ea typeface="Pontano Sans"/>
              <a:cs typeface="Pontano Sans"/>
              <a:sym typeface="Pontano Sans"/>
            </a:endParaRPr>
          </a:p>
          <a:p>
            <a:pPr indent="0" lvl="0" marL="0" rtl="0" algn="ctr">
              <a:spcBef>
                <a:spcPts val="0"/>
              </a:spcBef>
              <a:spcAft>
                <a:spcPts val="0"/>
              </a:spcAft>
              <a:buNone/>
            </a:pPr>
            <a:r>
              <a:rPr b="1" lang="en" sz="1200">
                <a:solidFill>
                  <a:schemeClr val="dk1"/>
                </a:solidFill>
                <a:latin typeface="Pontano Sans"/>
                <a:ea typeface="Pontano Sans"/>
                <a:cs typeface="Pontano Sans"/>
                <a:sym typeface="Pontano Sans"/>
              </a:rPr>
              <a:t>best fitting parameters</a:t>
            </a:r>
            <a:endParaRPr b="1" sz="1200">
              <a:solidFill>
                <a:schemeClr val="dk1"/>
              </a:solidFill>
              <a:latin typeface="Pontano Sans"/>
              <a:ea typeface="Pontano Sans"/>
              <a:cs typeface="Pontano Sans"/>
              <a:sym typeface="Pontano Sans"/>
            </a:endParaRPr>
          </a:p>
        </p:txBody>
      </p:sp>
      <p:pic>
        <p:nvPicPr>
          <p:cNvPr id="75" name="Google Shape;75;p14"/>
          <p:cNvPicPr preferRelativeResize="0"/>
          <p:nvPr/>
        </p:nvPicPr>
        <p:blipFill rotWithShape="1">
          <a:blip r:embed="rId5">
            <a:alphaModFix/>
          </a:blip>
          <a:srcRect b="0" l="0" r="0" t="50161"/>
          <a:stretch/>
        </p:blipFill>
        <p:spPr>
          <a:xfrm>
            <a:off x="167338" y="2591750"/>
            <a:ext cx="4618024" cy="1844625"/>
          </a:xfrm>
          <a:prstGeom prst="rect">
            <a:avLst/>
          </a:prstGeom>
          <a:noFill/>
          <a:ln>
            <a:noFill/>
          </a:ln>
        </p:spPr>
      </p:pic>
      <p:sp>
        <p:nvSpPr>
          <p:cNvPr id="76" name="Google Shape;76;p14"/>
          <p:cNvSpPr txBox="1"/>
          <p:nvPr/>
        </p:nvSpPr>
        <p:spPr>
          <a:xfrm>
            <a:off x="615000" y="4554225"/>
            <a:ext cx="3722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Pontano Sans"/>
                <a:ea typeface="Pontano Sans"/>
                <a:cs typeface="Pontano Sans"/>
                <a:sym typeface="Pontano Sans"/>
              </a:rPr>
              <a:t>Note: </a:t>
            </a:r>
            <a:r>
              <a:rPr b="1" i="1" lang="en" sz="1200">
                <a:solidFill>
                  <a:schemeClr val="dk1"/>
                </a:solidFill>
                <a:latin typeface="Pontano Sans"/>
                <a:ea typeface="Pontano Sans"/>
                <a:cs typeface="Pontano Sans"/>
                <a:sym typeface="Pontano Sans"/>
              </a:rPr>
              <a:t>acrit</a:t>
            </a:r>
            <a:r>
              <a:rPr lang="en" sz="1200">
                <a:solidFill>
                  <a:schemeClr val="dk1"/>
                </a:solidFill>
                <a:latin typeface="Pontano Sans"/>
                <a:ea typeface="Pontano Sans"/>
                <a:cs typeface="Pontano Sans"/>
                <a:sym typeface="Pontano Sans"/>
              </a:rPr>
              <a:t> did not converge during MCMC attempts</a:t>
            </a:r>
            <a:endParaRPr/>
          </a:p>
        </p:txBody>
      </p:sp>
      <p:sp>
        <p:nvSpPr>
          <p:cNvPr id="77" name="Google Shape;77;p14"/>
          <p:cNvSpPr txBox="1"/>
          <p:nvPr/>
        </p:nvSpPr>
        <p:spPr>
          <a:xfrm>
            <a:off x="3914179" y="1575275"/>
            <a:ext cx="89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latin typeface="Pontano Sans"/>
                <a:ea typeface="Pontano Sans"/>
                <a:cs typeface="Pontano Sans"/>
                <a:sym typeface="Pontano Sans"/>
              </a:rPr>
              <a:t>acrit: 2.82 </a:t>
            </a:r>
            <a:endParaRPr b="1" baseline="-25000" sz="1000">
              <a:solidFill>
                <a:schemeClr val="dk1"/>
              </a:solidFill>
              <a:latin typeface="Pontano Sans"/>
              <a:ea typeface="Pontano Sans"/>
              <a:cs typeface="Pontano Sans"/>
              <a:sym typeface="Pontan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pic>
        <p:nvPicPr>
          <p:cNvPr id="82" name="Google Shape;82;p15"/>
          <p:cNvPicPr preferRelativeResize="0"/>
          <p:nvPr/>
        </p:nvPicPr>
        <p:blipFill>
          <a:blip r:embed="rId3">
            <a:alphaModFix/>
          </a:blip>
          <a:stretch>
            <a:fillRect/>
          </a:stretch>
        </p:blipFill>
        <p:spPr>
          <a:xfrm>
            <a:off x="4647200" y="4728212"/>
            <a:ext cx="512525" cy="337425"/>
          </a:xfrm>
          <a:prstGeom prst="rect">
            <a:avLst/>
          </a:prstGeom>
          <a:noFill/>
          <a:ln>
            <a:noFill/>
          </a:ln>
        </p:spPr>
      </p:pic>
      <p:pic>
        <p:nvPicPr>
          <p:cNvPr id="83" name="Google Shape;83;p15"/>
          <p:cNvPicPr preferRelativeResize="0"/>
          <p:nvPr/>
        </p:nvPicPr>
        <p:blipFill>
          <a:blip r:embed="rId4">
            <a:alphaModFix/>
          </a:blip>
          <a:stretch>
            <a:fillRect/>
          </a:stretch>
        </p:blipFill>
        <p:spPr>
          <a:xfrm>
            <a:off x="5824500" y="4711913"/>
            <a:ext cx="512525" cy="369988"/>
          </a:xfrm>
          <a:prstGeom prst="rect">
            <a:avLst/>
          </a:prstGeom>
          <a:noFill/>
          <a:ln>
            <a:noFill/>
          </a:ln>
        </p:spPr>
      </p:pic>
      <p:pic>
        <p:nvPicPr>
          <p:cNvPr id="84" name="Google Shape;84;p15"/>
          <p:cNvPicPr preferRelativeResize="0"/>
          <p:nvPr/>
        </p:nvPicPr>
        <p:blipFill>
          <a:blip r:embed="rId5">
            <a:alphaModFix/>
          </a:blip>
          <a:stretch>
            <a:fillRect/>
          </a:stretch>
        </p:blipFill>
        <p:spPr>
          <a:xfrm>
            <a:off x="6658750" y="4665200"/>
            <a:ext cx="512525" cy="383616"/>
          </a:xfrm>
          <a:prstGeom prst="rect">
            <a:avLst/>
          </a:prstGeom>
          <a:noFill/>
          <a:ln>
            <a:noFill/>
          </a:ln>
        </p:spPr>
      </p:pic>
      <p:pic>
        <p:nvPicPr>
          <p:cNvPr id="85" name="Google Shape;85;p15"/>
          <p:cNvPicPr preferRelativeResize="0"/>
          <p:nvPr/>
        </p:nvPicPr>
        <p:blipFill>
          <a:blip r:embed="rId6">
            <a:alphaModFix/>
          </a:blip>
          <a:stretch>
            <a:fillRect/>
          </a:stretch>
        </p:blipFill>
        <p:spPr>
          <a:xfrm>
            <a:off x="7748925" y="4665213"/>
            <a:ext cx="698026" cy="383600"/>
          </a:xfrm>
          <a:prstGeom prst="rect">
            <a:avLst/>
          </a:prstGeom>
          <a:noFill/>
          <a:ln>
            <a:noFill/>
          </a:ln>
        </p:spPr>
      </p:pic>
      <p:sp>
        <p:nvSpPr>
          <p:cNvPr id="86" name="Google Shape;86;p15"/>
          <p:cNvSpPr/>
          <p:nvPr/>
        </p:nvSpPr>
        <p:spPr>
          <a:xfrm>
            <a:off x="203975" y="172550"/>
            <a:ext cx="4368000" cy="1831800"/>
          </a:xfrm>
          <a:prstGeom prst="roundRect">
            <a:avLst>
              <a:gd fmla="val 5831"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txBox="1"/>
          <p:nvPr/>
        </p:nvSpPr>
        <p:spPr>
          <a:xfrm>
            <a:off x="203975" y="176775"/>
            <a:ext cx="4443300" cy="183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Pontano Sans"/>
                <a:ea typeface="Pontano Sans"/>
                <a:cs typeface="Pontano Sans"/>
                <a:sym typeface="Pontano Sans"/>
              </a:rPr>
              <a:t>By progressively reducing the errors in a hypothetical data set calculated from the original dataset. We can repeat the model fitting process and evaluate the </a:t>
            </a:r>
            <a:r>
              <a:rPr b="1" lang="en" sz="1200">
                <a:solidFill>
                  <a:schemeClr val="dk1"/>
                </a:solidFill>
                <a:latin typeface="Pontano Sans"/>
                <a:ea typeface="Pontano Sans"/>
                <a:cs typeface="Pontano Sans"/>
                <a:sym typeface="Pontano Sans"/>
              </a:rPr>
              <a:t>BIC and AIC</a:t>
            </a:r>
            <a:r>
              <a:rPr lang="en" sz="1200">
                <a:solidFill>
                  <a:schemeClr val="dk1"/>
                </a:solidFill>
                <a:latin typeface="Pontano Sans"/>
                <a:ea typeface="Pontano Sans"/>
                <a:cs typeface="Pontano Sans"/>
                <a:sym typeface="Pontano Sans"/>
              </a:rPr>
              <a:t> values for each model. The </a:t>
            </a:r>
            <a:r>
              <a:rPr lang="en" sz="1200">
                <a:solidFill>
                  <a:schemeClr val="dk1"/>
                </a:solidFill>
                <a:latin typeface="Pontano Sans"/>
                <a:ea typeface="Pontano Sans"/>
                <a:cs typeface="Pontano Sans"/>
                <a:sym typeface="Pontano Sans"/>
              </a:rPr>
              <a:t>divergence between </a:t>
            </a:r>
            <a:r>
              <a:rPr b="1" lang="en" sz="1200">
                <a:solidFill>
                  <a:schemeClr val="dk1"/>
                </a:solidFill>
                <a:latin typeface="Pontano Sans"/>
                <a:ea typeface="Pontano Sans"/>
                <a:cs typeface="Pontano Sans"/>
                <a:sym typeface="Pontano Sans"/>
              </a:rPr>
              <a:t>BIC and AIC</a:t>
            </a:r>
            <a:r>
              <a:rPr lang="en" sz="1200">
                <a:solidFill>
                  <a:schemeClr val="dk1"/>
                </a:solidFill>
                <a:latin typeface="Pontano Sans"/>
                <a:ea typeface="Pontano Sans"/>
                <a:cs typeface="Pontano Sans"/>
                <a:sym typeface="Pontano Sans"/>
              </a:rPr>
              <a:t> values are plotted to the right against an increasing </a:t>
            </a:r>
            <a:r>
              <a:rPr b="1" lang="en" sz="1200">
                <a:solidFill>
                  <a:schemeClr val="dk1"/>
                </a:solidFill>
                <a:latin typeface="Pontano Sans"/>
                <a:ea typeface="Pontano Sans"/>
                <a:cs typeface="Pontano Sans"/>
                <a:sym typeface="Pontano Sans"/>
              </a:rPr>
              <a:t>n-size</a:t>
            </a:r>
            <a:r>
              <a:rPr lang="en" sz="1200">
                <a:solidFill>
                  <a:schemeClr val="dk1"/>
                </a:solidFill>
                <a:latin typeface="Pontano Sans"/>
                <a:ea typeface="Pontano Sans"/>
                <a:cs typeface="Pontano Sans"/>
                <a:sym typeface="Pontano Sans"/>
              </a:rPr>
              <a:t> of data points.</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rPr lang="en" sz="1200">
                <a:solidFill>
                  <a:schemeClr val="dk1"/>
                </a:solidFill>
                <a:latin typeface="Pontano Sans"/>
                <a:ea typeface="Pontano Sans"/>
                <a:cs typeface="Pontano Sans"/>
                <a:sym typeface="Pontano Sans"/>
              </a:rPr>
              <a:t>The resulting minimum </a:t>
            </a:r>
            <a:r>
              <a:rPr b="1" lang="en" sz="1200">
                <a:solidFill>
                  <a:schemeClr val="dk1"/>
                </a:solidFill>
                <a:latin typeface="Pontano Sans"/>
                <a:ea typeface="Pontano Sans"/>
                <a:cs typeface="Pontano Sans"/>
                <a:sym typeface="Pontano Sans"/>
              </a:rPr>
              <a:t>n-size</a:t>
            </a:r>
            <a:r>
              <a:rPr lang="en" sz="1200">
                <a:solidFill>
                  <a:schemeClr val="dk1"/>
                </a:solidFill>
                <a:latin typeface="Pontano Sans"/>
                <a:ea typeface="Pontano Sans"/>
                <a:cs typeface="Pontano Sans"/>
                <a:sym typeface="Pontano Sans"/>
              </a:rPr>
              <a:t> data points is </a:t>
            </a:r>
            <a:r>
              <a:rPr b="1" lang="en" sz="1200">
                <a:solidFill>
                  <a:schemeClr val="dk1"/>
                </a:solidFill>
                <a:latin typeface="Pontano Sans"/>
                <a:ea typeface="Pontano Sans"/>
                <a:cs typeface="Pontano Sans"/>
                <a:sym typeface="Pontano Sans"/>
              </a:rPr>
              <a:t>~12 points </a:t>
            </a:r>
            <a:r>
              <a:rPr lang="en" sz="1200">
                <a:solidFill>
                  <a:schemeClr val="dk1"/>
                </a:solidFill>
                <a:latin typeface="Pontano Sans"/>
                <a:ea typeface="Pontano Sans"/>
                <a:cs typeface="Pontano Sans"/>
                <a:sym typeface="Pontano Sans"/>
              </a:rPr>
              <a:t>before the </a:t>
            </a:r>
            <a:r>
              <a:rPr b="1" lang="en" sz="1200">
                <a:solidFill>
                  <a:schemeClr val="dk1"/>
                </a:solidFill>
                <a:latin typeface="Pontano Sans"/>
                <a:ea typeface="Pontano Sans"/>
                <a:cs typeface="Pontano Sans"/>
                <a:sym typeface="Pontano Sans"/>
              </a:rPr>
              <a:t>BIC and AIC</a:t>
            </a:r>
            <a:r>
              <a:rPr lang="en" sz="1200">
                <a:solidFill>
                  <a:schemeClr val="dk1"/>
                </a:solidFill>
                <a:latin typeface="Pontano Sans"/>
                <a:ea typeface="Pontano Sans"/>
                <a:cs typeface="Pontano Sans"/>
                <a:sym typeface="Pontano Sans"/>
              </a:rPr>
              <a:t> values start to favor the hypothetical value at a </a:t>
            </a:r>
            <a:r>
              <a:rPr b="1" lang="en" sz="1100">
                <a:solidFill>
                  <a:schemeClr val="dk1"/>
                </a:solidFill>
                <a:latin typeface="Pontano Sans"/>
                <a:ea typeface="Pontano Sans"/>
                <a:cs typeface="Pontano Sans"/>
                <a:sym typeface="Pontano Sans"/>
              </a:rPr>
              <a:t>5σ error region plotted in gray </a:t>
            </a:r>
            <a:r>
              <a:rPr lang="en" sz="1100">
                <a:solidFill>
                  <a:schemeClr val="dk1"/>
                </a:solidFill>
                <a:latin typeface="Pontano Sans"/>
                <a:ea typeface="Pontano Sans"/>
                <a:cs typeface="Pontano Sans"/>
                <a:sym typeface="Pontano Sans"/>
              </a:rPr>
              <a:t>for the </a:t>
            </a:r>
            <a:r>
              <a:rPr b="1" lang="en" sz="1100">
                <a:solidFill>
                  <a:schemeClr val="dk1"/>
                </a:solidFill>
                <a:latin typeface="Pontano Sans"/>
                <a:ea typeface="Pontano Sans"/>
                <a:cs typeface="Pontano Sans"/>
                <a:sym typeface="Pontano Sans"/>
              </a:rPr>
              <a:t>NGC3198 rotation curve.</a:t>
            </a:r>
            <a:endParaRPr b="1" sz="1100">
              <a:solidFill>
                <a:schemeClr val="dk1"/>
              </a:solidFill>
              <a:latin typeface="Pontano Sans"/>
              <a:ea typeface="Pontano Sans"/>
              <a:cs typeface="Pontano Sans"/>
              <a:sym typeface="Pontano Sans"/>
            </a:endParaRPr>
          </a:p>
        </p:txBody>
      </p:sp>
      <p:pic>
        <p:nvPicPr>
          <p:cNvPr id="88" name="Google Shape;88;p15"/>
          <p:cNvPicPr preferRelativeResize="0"/>
          <p:nvPr/>
        </p:nvPicPr>
        <p:blipFill>
          <a:blip r:embed="rId7">
            <a:alphaModFix/>
          </a:blip>
          <a:stretch>
            <a:fillRect/>
          </a:stretch>
        </p:blipFill>
        <p:spPr>
          <a:xfrm>
            <a:off x="4903800" y="0"/>
            <a:ext cx="3984275" cy="2554632"/>
          </a:xfrm>
          <a:prstGeom prst="rect">
            <a:avLst/>
          </a:prstGeom>
          <a:noFill/>
          <a:ln>
            <a:noFill/>
          </a:ln>
        </p:spPr>
      </p:pic>
      <p:pic>
        <p:nvPicPr>
          <p:cNvPr id="89" name="Google Shape;89;p15"/>
          <p:cNvPicPr preferRelativeResize="0"/>
          <p:nvPr/>
        </p:nvPicPr>
        <p:blipFill>
          <a:blip r:embed="rId8">
            <a:alphaModFix/>
          </a:blip>
          <a:stretch>
            <a:fillRect/>
          </a:stretch>
        </p:blipFill>
        <p:spPr>
          <a:xfrm>
            <a:off x="4903800" y="2548972"/>
            <a:ext cx="3984275" cy="2554628"/>
          </a:xfrm>
          <a:prstGeom prst="rect">
            <a:avLst/>
          </a:prstGeom>
          <a:noFill/>
          <a:ln>
            <a:noFill/>
          </a:ln>
        </p:spPr>
      </p:pic>
      <p:pic>
        <p:nvPicPr>
          <p:cNvPr id="90" name="Google Shape;90;p15"/>
          <p:cNvPicPr preferRelativeResize="0"/>
          <p:nvPr/>
        </p:nvPicPr>
        <p:blipFill>
          <a:blip r:embed="rId9">
            <a:alphaModFix/>
          </a:blip>
          <a:stretch>
            <a:fillRect/>
          </a:stretch>
        </p:blipFill>
        <p:spPr>
          <a:xfrm>
            <a:off x="1249089" y="3188300"/>
            <a:ext cx="2277761" cy="1123950"/>
          </a:xfrm>
          <a:prstGeom prst="rect">
            <a:avLst/>
          </a:prstGeom>
          <a:noFill/>
          <a:ln>
            <a:noFill/>
          </a:ln>
        </p:spPr>
      </p:pic>
      <p:pic>
        <p:nvPicPr>
          <p:cNvPr id="91" name="Google Shape;91;p15"/>
          <p:cNvPicPr preferRelativeResize="0"/>
          <p:nvPr/>
        </p:nvPicPr>
        <p:blipFill>
          <a:blip r:embed="rId10">
            <a:alphaModFix/>
          </a:blip>
          <a:stretch>
            <a:fillRect/>
          </a:stretch>
        </p:blipFill>
        <p:spPr>
          <a:xfrm>
            <a:off x="1249100" y="2045887"/>
            <a:ext cx="2277750" cy="1088275"/>
          </a:xfrm>
          <a:prstGeom prst="rect">
            <a:avLst/>
          </a:prstGeom>
          <a:noFill/>
          <a:ln>
            <a:noFill/>
          </a:ln>
        </p:spPr>
      </p:pic>
      <p:sp>
        <p:nvSpPr>
          <p:cNvPr id="92" name="Google Shape;92;p15"/>
          <p:cNvSpPr txBox="1"/>
          <p:nvPr/>
        </p:nvSpPr>
        <p:spPr>
          <a:xfrm>
            <a:off x="203975" y="4264025"/>
            <a:ext cx="4443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Pontano Sans"/>
                <a:ea typeface="Pontano Sans"/>
                <a:cs typeface="Pontano Sans"/>
                <a:sym typeface="Pontano Sans"/>
              </a:rPr>
              <a:t>Interestingly, </a:t>
            </a:r>
            <a:r>
              <a:rPr b="1" lang="en" sz="1200">
                <a:solidFill>
                  <a:schemeClr val="dk1"/>
                </a:solidFill>
                <a:latin typeface="Pontano Sans"/>
                <a:ea typeface="Pontano Sans"/>
                <a:cs typeface="Pontano Sans"/>
                <a:sym typeface="Pontano Sans"/>
              </a:rPr>
              <a:t>halo models</a:t>
            </a:r>
            <a:r>
              <a:rPr lang="en" sz="1200">
                <a:solidFill>
                  <a:schemeClr val="dk1"/>
                </a:solidFill>
                <a:latin typeface="Pontano Sans"/>
                <a:ea typeface="Pontano Sans"/>
                <a:cs typeface="Pontano Sans"/>
                <a:sym typeface="Pontano Sans"/>
              </a:rPr>
              <a:t> are preferred in the </a:t>
            </a:r>
            <a:r>
              <a:rPr b="1" lang="en" sz="1200">
                <a:solidFill>
                  <a:schemeClr val="dk1"/>
                </a:solidFill>
                <a:latin typeface="Pontano Sans"/>
                <a:ea typeface="Pontano Sans"/>
                <a:cs typeface="Pontano Sans"/>
                <a:sym typeface="Pontano Sans"/>
              </a:rPr>
              <a:t>M33 and NGC2403</a:t>
            </a:r>
            <a:r>
              <a:rPr lang="en" sz="1200">
                <a:solidFill>
                  <a:schemeClr val="dk1"/>
                </a:solidFill>
                <a:latin typeface="Pontano Sans"/>
                <a:ea typeface="Pontano Sans"/>
                <a:cs typeface="Pontano Sans"/>
                <a:sym typeface="Pontano Sans"/>
              </a:rPr>
              <a:t> case, whereas </a:t>
            </a:r>
            <a:r>
              <a:rPr b="1" lang="en" sz="1200">
                <a:solidFill>
                  <a:schemeClr val="dk1"/>
                </a:solidFill>
                <a:latin typeface="Pontano Sans"/>
                <a:ea typeface="Pontano Sans"/>
                <a:cs typeface="Pontano Sans"/>
                <a:sym typeface="Pontano Sans"/>
              </a:rPr>
              <a:t>MOND models</a:t>
            </a:r>
            <a:r>
              <a:rPr lang="en" sz="1200">
                <a:solidFill>
                  <a:schemeClr val="dk1"/>
                </a:solidFill>
                <a:latin typeface="Pontano Sans"/>
                <a:ea typeface="Pontano Sans"/>
                <a:cs typeface="Pontano Sans"/>
                <a:sym typeface="Pontano Sans"/>
              </a:rPr>
              <a:t> are highly preferred by the </a:t>
            </a:r>
            <a:r>
              <a:rPr b="1" lang="en" sz="1200">
                <a:solidFill>
                  <a:schemeClr val="dk1"/>
                </a:solidFill>
                <a:latin typeface="Pontano Sans"/>
                <a:ea typeface="Pontano Sans"/>
                <a:cs typeface="Pontano Sans"/>
                <a:sym typeface="Pontano Sans"/>
              </a:rPr>
              <a:t>NGC3198</a:t>
            </a:r>
            <a:r>
              <a:rPr lang="en" sz="1200">
                <a:solidFill>
                  <a:schemeClr val="dk1"/>
                </a:solidFill>
                <a:latin typeface="Pontano Sans"/>
                <a:ea typeface="Pontano Sans"/>
                <a:cs typeface="Pontano Sans"/>
                <a:sym typeface="Pontano Sans"/>
              </a:rPr>
              <a:t> case. The </a:t>
            </a:r>
            <a:r>
              <a:rPr b="1" lang="en" sz="1200">
                <a:solidFill>
                  <a:schemeClr val="dk1"/>
                </a:solidFill>
                <a:latin typeface="Pontano Sans"/>
                <a:ea typeface="Pontano Sans"/>
                <a:cs typeface="Pontano Sans"/>
                <a:sym typeface="Pontano Sans"/>
              </a:rPr>
              <a:t> χ2 minimization </a:t>
            </a:r>
            <a:r>
              <a:rPr lang="en" sz="1200">
                <a:solidFill>
                  <a:schemeClr val="dk1"/>
                </a:solidFill>
                <a:latin typeface="Pontano Sans"/>
                <a:ea typeface="Pontano Sans"/>
                <a:cs typeface="Pontano Sans"/>
                <a:sym typeface="Pontano Sans"/>
              </a:rPr>
              <a:t>also fails to calculate a varied </a:t>
            </a:r>
            <a:r>
              <a:rPr b="1" lang="en" sz="1200">
                <a:solidFill>
                  <a:schemeClr val="dk1"/>
                </a:solidFill>
                <a:latin typeface="Pontano Sans"/>
                <a:ea typeface="Pontano Sans"/>
                <a:cs typeface="Pontano Sans"/>
                <a:sym typeface="Pontano Sans"/>
              </a:rPr>
              <a:t>acrit</a:t>
            </a:r>
            <a:r>
              <a:rPr lang="en" sz="1200">
                <a:solidFill>
                  <a:schemeClr val="dk1"/>
                </a:solidFill>
                <a:latin typeface="Pontano Sans"/>
                <a:ea typeface="Pontano Sans"/>
                <a:cs typeface="Pontano Sans"/>
                <a:sym typeface="Pontano Sans"/>
              </a:rPr>
              <a:t> value for these galaxies.</a:t>
            </a:r>
            <a:endParaRPr>
              <a:latin typeface="Pontano Sans"/>
              <a:ea typeface="Pontano Sans"/>
              <a:cs typeface="Pontano Sans"/>
              <a:sym typeface="Pontano Sans"/>
            </a:endParaRPr>
          </a:p>
        </p:txBody>
      </p:sp>
      <p:sp>
        <p:nvSpPr>
          <p:cNvPr id="93" name="Google Shape;93;p15"/>
          <p:cNvSpPr txBox="1"/>
          <p:nvPr/>
        </p:nvSpPr>
        <p:spPr>
          <a:xfrm>
            <a:off x="3599679" y="2402400"/>
            <a:ext cx="89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latin typeface="Pontano Sans"/>
                <a:ea typeface="Pontano Sans"/>
                <a:cs typeface="Pontano Sans"/>
                <a:sym typeface="Pontano Sans"/>
              </a:rPr>
              <a:t>acrit: 10.0 </a:t>
            </a:r>
            <a:endParaRPr b="1" baseline="-25000" sz="1000">
              <a:solidFill>
                <a:schemeClr val="dk1"/>
              </a:solidFill>
              <a:latin typeface="Pontano Sans"/>
              <a:ea typeface="Pontano Sans"/>
              <a:cs typeface="Pontano Sans"/>
              <a:sym typeface="Pontano Sans"/>
            </a:endParaRPr>
          </a:p>
        </p:txBody>
      </p:sp>
      <p:sp>
        <p:nvSpPr>
          <p:cNvPr id="94" name="Google Shape;94;p15"/>
          <p:cNvSpPr txBox="1"/>
          <p:nvPr/>
        </p:nvSpPr>
        <p:spPr>
          <a:xfrm>
            <a:off x="3599679" y="3580925"/>
            <a:ext cx="89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latin typeface="Pontano Sans"/>
                <a:ea typeface="Pontano Sans"/>
                <a:cs typeface="Pontano Sans"/>
                <a:sym typeface="Pontano Sans"/>
              </a:rPr>
              <a:t>acrit: 10.0 </a:t>
            </a:r>
            <a:endParaRPr b="1" baseline="-25000" sz="1000">
              <a:solidFill>
                <a:schemeClr val="dk1"/>
              </a:solidFill>
              <a:latin typeface="Pontano Sans"/>
              <a:ea typeface="Pontano Sans"/>
              <a:cs typeface="Pontano Sans"/>
              <a:sym typeface="Pontano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