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Lst>
  <p:sldSz cy="5143500" cx="9144000"/>
  <p:notesSz cx="6858000" cy="9144000"/>
  <p:embeddedFontLst>
    <p:embeddedFont>
      <p:font typeface="Pontano Sans"/>
      <p:regular r:id="rId9"/>
      <p:bold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PontanoSans-bold.fntdata"/><Relationship Id="rId9" Type="http://schemas.openxmlformats.org/officeDocument/2006/relationships/font" Target="fonts/PontanoSans-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e25065990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e25065990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082152f1d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082152f1d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1180500" y="134750"/>
            <a:ext cx="6783000" cy="585000"/>
          </a:xfrm>
          <a:prstGeom prst="roundRect">
            <a:avLst>
              <a:gd fmla="val 16667" name="adj"/>
            </a:avLst>
          </a:prstGeom>
          <a:solidFill>
            <a:srgbClr val="EAD1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3"/>
          <p:cNvSpPr txBox="1"/>
          <p:nvPr/>
        </p:nvSpPr>
        <p:spPr>
          <a:xfrm>
            <a:off x="44925" y="134750"/>
            <a:ext cx="9144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600">
                <a:latin typeface="Pontano Sans"/>
                <a:ea typeface="Pontano Sans"/>
                <a:cs typeface="Pontano Sans"/>
                <a:sym typeface="Pontano Sans"/>
              </a:rPr>
              <a:t>LAB 3: Transits - </a:t>
            </a:r>
            <a:r>
              <a:rPr lang="en" sz="2600">
                <a:solidFill>
                  <a:schemeClr val="dk1"/>
                </a:solidFill>
                <a:latin typeface="Pontano Sans"/>
                <a:ea typeface="Pontano Sans"/>
                <a:cs typeface="Pontano Sans"/>
                <a:sym typeface="Pontano Sans"/>
              </a:rPr>
              <a:t>Jorge Casas, Pablo Drake</a:t>
            </a:r>
            <a:endParaRPr sz="2600">
              <a:latin typeface="Pontano Sans"/>
              <a:ea typeface="Pontano Sans"/>
              <a:cs typeface="Pontano Sans"/>
              <a:sym typeface="Pontano Sans"/>
            </a:endParaRPr>
          </a:p>
        </p:txBody>
      </p:sp>
      <p:sp>
        <p:nvSpPr>
          <p:cNvPr id="56" name="Google Shape;56;p13"/>
          <p:cNvSpPr/>
          <p:nvPr/>
        </p:nvSpPr>
        <p:spPr>
          <a:xfrm>
            <a:off x="472950" y="3755375"/>
            <a:ext cx="3685200" cy="1262100"/>
          </a:xfrm>
          <a:prstGeom prst="roundRect">
            <a:avLst>
              <a:gd fmla="val 16667" name="adj"/>
            </a:avLst>
          </a:prstGeom>
          <a:solidFill>
            <a:srgbClr val="EAD1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3"/>
          <p:cNvSpPr txBox="1"/>
          <p:nvPr/>
        </p:nvSpPr>
        <p:spPr>
          <a:xfrm>
            <a:off x="586200" y="3832325"/>
            <a:ext cx="3458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Pontano Sans"/>
                <a:ea typeface="Pontano Sans"/>
                <a:cs typeface="Pontano Sans"/>
                <a:sym typeface="Pontano Sans"/>
              </a:rPr>
              <a:t>The typical transit light curve is shown, above, with a distinct trapezoidal transit depth blocking out a minuscule magnitude of flux from the light source. The given data in this lab contains four transits of </a:t>
            </a:r>
            <a:r>
              <a:rPr lang="en" sz="1200">
                <a:latin typeface="Pontano Sans"/>
                <a:ea typeface="Pontano Sans"/>
                <a:cs typeface="Pontano Sans"/>
                <a:sym typeface="Pontano Sans"/>
              </a:rPr>
              <a:t>similar</a:t>
            </a:r>
            <a:r>
              <a:rPr lang="en" sz="1200">
                <a:latin typeface="Pontano Sans"/>
                <a:ea typeface="Pontano Sans"/>
                <a:cs typeface="Pontano Sans"/>
                <a:sym typeface="Pontano Sans"/>
              </a:rPr>
              <a:t> shape on smaller </a:t>
            </a:r>
            <a:r>
              <a:rPr lang="en" sz="1200">
                <a:latin typeface="Pontano Sans"/>
                <a:ea typeface="Pontano Sans"/>
                <a:cs typeface="Pontano Sans"/>
                <a:sym typeface="Pontano Sans"/>
              </a:rPr>
              <a:t>transit</a:t>
            </a:r>
            <a:r>
              <a:rPr lang="en" sz="1200">
                <a:latin typeface="Pontano Sans"/>
                <a:ea typeface="Pontano Sans"/>
                <a:cs typeface="Pontano Sans"/>
                <a:sym typeface="Pontano Sans"/>
              </a:rPr>
              <a:t> durations.</a:t>
            </a:r>
            <a:endParaRPr sz="1200">
              <a:latin typeface="Pontano Sans"/>
              <a:ea typeface="Pontano Sans"/>
              <a:cs typeface="Pontano Sans"/>
              <a:sym typeface="Pontano Sans"/>
            </a:endParaRPr>
          </a:p>
        </p:txBody>
      </p:sp>
      <p:sp>
        <p:nvSpPr>
          <p:cNvPr id="58" name="Google Shape;58;p13"/>
          <p:cNvSpPr txBox="1"/>
          <p:nvPr/>
        </p:nvSpPr>
        <p:spPr>
          <a:xfrm>
            <a:off x="472950" y="719750"/>
            <a:ext cx="8198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Pontano Sans"/>
                <a:ea typeface="Pontano Sans"/>
                <a:cs typeface="Pontano Sans"/>
                <a:sym typeface="Pontano Sans"/>
              </a:rPr>
              <a:t>In this lab, we were tasked with cleaning and detrending simulated Hubble data of exoplanet transits, of which was mostly handled by an MCMC algorithm to detrend the global oscillations in flux data.</a:t>
            </a:r>
            <a:endParaRPr b="1">
              <a:latin typeface="Pontano Sans"/>
              <a:ea typeface="Pontano Sans"/>
              <a:cs typeface="Pontano Sans"/>
              <a:sym typeface="Pontano Sans"/>
            </a:endParaRPr>
          </a:p>
        </p:txBody>
      </p:sp>
      <p:pic>
        <p:nvPicPr>
          <p:cNvPr id="59" name="Google Shape;59;p13"/>
          <p:cNvPicPr preferRelativeResize="0"/>
          <p:nvPr/>
        </p:nvPicPr>
        <p:blipFill>
          <a:blip r:embed="rId3">
            <a:alphaModFix/>
          </a:blip>
          <a:stretch>
            <a:fillRect/>
          </a:stretch>
        </p:blipFill>
        <p:spPr>
          <a:xfrm>
            <a:off x="172125" y="1590638"/>
            <a:ext cx="3986025" cy="1993013"/>
          </a:xfrm>
          <a:prstGeom prst="rect">
            <a:avLst/>
          </a:prstGeom>
          <a:noFill/>
          <a:ln>
            <a:noFill/>
          </a:ln>
        </p:spPr>
      </p:pic>
      <p:sp>
        <p:nvSpPr>
          <p:cNvPr id="60" name="Google Shape;60;p13"/>
          <p:cNvSpPr txBox="1"/>
          <p:nvPr/>
        </p:nvSpPr>
        <p:spPr>
          <a:xfrm>
            <a:off x="2553725" y="1483700"/>
            <a:ext cx="15525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solidFill>
                  <a:schemeClr val="dk1"/>
                </a:solidFill>
                <a:latin typeface="Pontano Sans"/>
                <a:ea typeface="Pontano Sans"/>
                <a:cs typeface="Pontano Sans"/>
                <a:sym typeface="Pontano Sans"/>
              </a:rPr>
              <a:t>Credit: Andrew Vanderburg</a:t>
            </a:r>
            <a:endParaRPr i="1" sz="900">
              <a:solidFill>
                <a:schemeClr val="dk1"/>
              </a:solidFill>
              <a:latin typeface="Pontano Sans"/>
              <a:ea typeface="Pontano Sans"/>
              <a:cs typeface="Pontano Sans"/>
              <a:sym typeface="Pontano Sans"/>
            </a:endParaRPr>
          </a:p>
        </p:txBody>
      </p:sp>
      <p:pic>
        <p:nvPicPr>
          <p:cNvPr id="61" name="Google Shape;61;p13"/>
          <p:cNvPicPr preferRelativeResize="0"/>
          <p:nvPr/>
        </p:nvPicPr>
        <p:blipFill rotWithShape="1">
          <a:blip r:embed="rId4">
            <a:alphaModFix/>
          </a:blip>
          <a:srcRect b="4591" l="3325" r="9619" t="11473"/>
          <a:stretch/>
        </p:blipFill>
        <p:spPr>
          <a:xfrm>
            <a:off x="5328200" y="1335350"/>
            <a:ext cx="3000509" cy="2313650"/>
          </a:xfrm>
          <a:prstGeom prst="rect">
            <a:avLst/>
          </a:prstGeom>
          <a:noFill/>
          <a:ln>
            <a:noFill/>
          </a:ln>
        </p:spPr>
      </p:pic>
      <p:sp>
        <p:nvSpPr>
          <p:cNvPr id="62" name="Google Shape;62;p13"/>
          <p:cNvSpPr/>
          <p:nvPr/>
        </p:nvSpPr>
        <p:spPr>
          <a:xfrm>
            <a:off x="4985850" y="3755375"/>
            <a:ext cx="3685200" cy="1262100"/>
          </a:xfrm>
          <a:prstGeom prst="roundRect">
            <a:avLst>
              <a:gd fmla="val 16667" name="adj"/>
            </a:avLst>
          </a:prstGeom>
          <a:solidFill>
            <a:srgbClr val="EAD1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3"/>
          <p:cNvSpPr txBox="1"/>
          <p:nvPr/>
        </p:nvSpPr>
        <p:spPr>
          <a:xfrm>
            <a:off x="4985850" y="3832325"/>
            <a:ext cx="36852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Pontano Sans"/>
                <a:ea typeface="Pontano Sans"/>
                <a:cs typeface="Pontano Sans"/>
                <a:sym typeface="Pontano Sans"/>
              </a:rPr>
              <a:t>The plot above is a sample of an algorithm using a </a:t>
            </a:r>
            <a:r>
              <a:rPr lang="en" sz="1200">
                <a:solidFill>
                  <a:schemeClr val="dk1"/>
                </a:solidFill>
                <a:latin typeface="Pontano Sans"/>
                <a:ea typeface="Pontano Sans"/>
                <a:cs typeface="Pontano Sans"/>
                <a:sym typeface="Pontano Sans"/>
              </a:rPr>
              <a:t>5-point</a:t>
            </a:r>
            <a:r>
              <a:rPr lang="en" sz="1200">
                <a:solidFill>
                  <a:schemeClr val="dk1"/>
                </a:solidFill>
                <a:latin typeface="Pontano Sans"/>
                <a:ea typeface="Pontano Sans"/>
                <a:cs typeface="Pontano Sans"/>
                <a:sym typeface="Pontano Sans"/>
              </a:rPr>
              <a:t> </a:t>
            </a:r>
            <a:r>
              <a:rPr lang="en" sz="1200">
                <a:latin typeface="Pontano Sans"/>
                <a:ea typeface="Pontano Sans"/>
                <a:cs typeface="Pontano Sans"/>
                <a:sym typeface="Pontano Sans"/>
              </a:rPr>
              <a:t>moving median to flag and discard</a:t>
            </a:r>
            <a:r>
              <a:rPr lang="en" sz="1200">
                <a:latin typeface="Pontano Sans"/>
                <a:ea typeface="Pontano Sans"/>
                <a:cs typeface="Pontano Sans"/>
                <a:sym typeface="Pontano Sans"/>
              </a:rPr>
              <a:t> </a:t>
            </a:r>
            <a:r>
              <a:rPr lang="en" sz="1200">
                <a:latin typeface="Pontano Sans"/>
                <a:ea typeface="Pontano Sans"/>
                <a:cs typeface="Pontano Sans"/>
                <a:sym typeface="Pontano Sans"/>
              </a:rPr>
              <a:t>flux data larger than 3σ, prior to detrending to maximize the log-likelihood error in the MCMC algorithm to detrend the data. </a:t>
            </a:r>
            <a:endParaRPr sz="1200">
              <a:latin typeface="Pontano Sans"/>
              <a:ea typeface="Pontano Sans"/>
              <a:cs typeface="Pontano Sans"/>
              <a:sym typeface="Pontano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 name="Shape 67"/>
        <p:cNvGrpSpPr/>
        <p:nvPr/>
      </p:nvGrpSpPr>
      <p:grpSpPr>
        <a:xfrm>
          <a:off x="0" y="0"/>
          <a:ext cx="0" cy="0"/>
          <a:chOff x="0" y="0"/>
          <a:chExt cx="0" cy="0"/>
        </a:xfrm>
      </p:grpSpPr>
      <p:sp>
        <p:nvSpPr>
          <p:cNvPr id="68" name="Google Shape;68;p14"/>
          <p:cNvSpPr/>
          <p:nvPr/>
        </p:nvSpPr>
        <p:spPr>
          <a:xfrm>
            <a:off x="109625" y="76200"/>
            <a:ext cx="4572000" cy="2422500"/>
          </a:xfrm>
          <a:prstGeom prst="roundRect">
            <a:avLst>
              <a:gd fmla="val 7357" name="adj"/>
            </a:avLst>
          </a:prstGeom>
          <a:solidFill>
            <a:srgbClr val="EAD1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4"/>
          <p:cNvSpPr txBox="1"/>
          <p:nvPr/>
        </p:nvSpPr>
        <p:spPr>
          <a:xfrm>
            <a:off x="109625" y="76200"/>
            <a:ext cx="45720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Pontano Sans"/>
                <a:ea typeface="Pontano Sans"/>
                <a:cs typeface="Pontano Sans"/>
                <a:sym typeface="Pontano Sans"/>
              </a:rPr>
              <a:t>The following model was used in the MCMC algorithm to detrend the data, using a linear term and an offset to detrend the drift in flux and two sinusoidal </a:t>
            </a:r>
            <a:r>
              <a:rPr lang="en" sz="1300">
                <a:solidFill>
                  <a:schemeClr val="dk1"/>
                </a:solidFill>
                <a:latin typeface="Pontano Sans"/>
                <a:ea typeface="Pontano Sans"/>
                <a:cs typeface="Pontano Sans"/>
                <a:sym typeface="Pontano Sans"/>
              </a:rPr>
              <a:t>terms to detrend the oscillation in flux from heating and cooling of sensors. </a:t>
            </a:r>
            <a:endParaRPr sz="1300">
              <a:solidFill>
                <a:schemeClr val="dk1"/>
              </a:solidFill>
              <a:latin typeface="Pontano Sans"/>
              <a:ea typeface="Pontano Sans"/>
              <a:cs typeface="Pontano Sans"/>
              <a:sym typeface="Pontano Sans"/>
            </a:endParaRPr>
          </a:p>
        </p:txBody>
      </p:sp>
      <p:sp>
        <p:nvSpPr>
          <p:cNvPr id="70" name="Google Shape;70;p14"/>
          <p:cNvSpPr txBox="1"/>
          <p:nvPr/>
        </p:nvSpPr>
        <p:spPr>
          <a:xfrm>
            <a:off x="209100" y="1713700"/>
            <a:ext cx="45720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Pontano Sans"/>
                <a:ea typeface="Pontano Sans"/>
                <a:cs typeface="Pontano Sans"/>
                <a:sym typeface="Pontano Sans"/>
              </a:rPr>
              <a:t>A periodogram was first used to provide initial </a:t>
            </a:r>
            <a:r>
              <a:rPr lang="en" sz="1300">
                <a:solidFill>
                  <a:schemeClr val="dk1"/>
                </a:solidFill>
                <a:latin typeface="Pontano Sans"/>
                <a:ea typeface="Pontano Sans"/>
                <a:cs typeface="Pontano Sans"/>
                <a:sym typeface="Pontano Sans"/>
              </a:rPr>
              <a:t>parameters</a:t>
            </a:r>
            <a:r>
              <a:rPr lang="en" sz="1300">
                <a:solidFill>
                  <a:schemeClr val="dk1"/>
                </a:solidFill>
                <a:latin typeface="Pontano Sans"/>
                <a:ea typeface="Pontano Sans"/>
                <a:cs typeface="Pontano Sans"/>
                <a:sym typeface="Pontano Sans"/>
              </a:rPr>
              <a:t> for the MCMC algorithm, and the </a:t>
            </a:r>
            <a:r>
              <a:rPr lang="en" sz="1300">
                <a:solidFill>
                  <a:schemeClr val="dk1"/>
                </a:solidFill>
                <a:latin typeface="Pontano Sans"/>
                <a:ea typeface="Pontano Sans"/>
                <a:cs typeface="Pontano Sans"/>
                <a:sym typeface="Pontano Sans"/>
              </a:rPr>
              <a:t>resulting</a:t>
            </a:r>
            <a:r>
              <a:rPr lang="en" sz="1300">
                <a:solidFill>
                  <a:schemeClr val="dk1"/>
                </a:solidFill>
                <a:latin typeface="Pontano Sans"/>
                <a:ea typeface="Pontano Sans"/>
                <a:cs typeface="Pontano Sans"/>
                <a:sym typeface="Pontano Sans"/>
              </a:rPr>
              <a:t> model was plotted below in orange to fit it against the raw flux data.</a:t>
            </a:r>
            <a:endParaRPr sz="1300">
              <a:solidFill>
                <a:schemeClr val="dk1"/>
              </a:solidFill>
              <a:latin typeface="Pontano Sans"/>
              <a:ea typeface="Pontano Sans"/>
              <a:cs typeface="Pontano Sans"/>
              <a:sym typeface="Pontano Sans"/>
            </a:endParaRPr>
          </a:p>
        </p:txBody>
      </p:sp>
      <p:pic>
        <p:nvPicPr>
          <p:cNvPr id="71" name="Google Shape;71;p14"/>
          <p:cNvPicPr preferRelativeResize="0"/>
          <p:nvPr/>
        </p:nvPicPr>
        <p:blipFill>
          <a:blip r:embed="rId3">
            <a:alphaModFix/>
          </a:blip>
          <a:stretch>
            <a:fillRect/>
          </a:stretch>
        </p:blipFill>
        <p:spPr>
          <a:xfrm>
            <a:off x="4932725" y="78876"/>
            <a:ext cx="4155576" cy="4985738"/>
          </a:xfrm>
          <a:prstGeom prst="rect">
            <a:avLst/>
          </a:prstGeom>
          <a:noFill/>
          <a:ln>
            <a:noFill/>
          </a:ln>
        </p:spPr>
      </p:pic>
      <p:pic>
        <p:nvPicPr>
          <p:cNvPr id="72" name="Google Shape;72;p14"/>
          <p:cNvPicPr preferRelativeResize="0"/>
          <p:nvPr/>
        </p:nvPicPr>
        <p:blipFill rotWithShape="1">
          <a:blip r:embed="rId4">
            <a:alphaModFix/>
          </a:blip>
          <a:srcRect b="4211" l="3059" r="9520" t="11393"/>
          <a:stretch/>
        </p:blipFill>
        <p:spPr>
          <a:xfrm>
            <a:off x="861825" y="2614550"/>
            <a:ext cx="3067581" cy="2368499"/>
          </a:xfrm>
          <a:prstGeom prst="rect">
            <a:avLst/>
          </a:prstGeom>
          <a:noFill/>
          <a:ln>
            <a:noFill/>
          </a:ln>
        </p:spPr>
      </p:pic>
      <p:pic>
        <p:nvPicPr>
          <p:cNvPr id="73" name="Google Shape;73;p14"/>
          <p:cNvPicPr preferRelativeResize="0"/>
          <p:nvPr/>
        </p:nvPicPr>
        <p:blipFill>
          <a:blip r:embed="rId5">
            <a:alphaModFix/>
          </a:blip>
          <a:stretch>
            <a:fillRect/>
          </a:stretch>
        </p:blipFill>
        <p:spPr>
          <a:xfrm>
            <a:off x="556523" y="1168112"/>
            <a:ext cx="3678203" cy="43888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 name="Shape 77"/>
        <p:cNvGrpSpPr/>
        <p:nvPr/>
      </p:nvGrpSpPr>
      <p:grpSpPr>
        <a:xfrm>
          <a:off x="0" y="0"/>
          <a:ext cx="0" cy="0"/>
          <a:chOff x="0" y="0"/>
          <a:chExt cx="0" cy="0"/>
        </a:xfrm>
      </p:grpSpPr>
      <p:sp>
        <p:nvSpPr>
          <p:cNvPr id="78" name="Google Shape;78;p15"/>
          <p:cNvSpPr/>
          <p:nvPr/>
        </p:nvSpPr>
        <p:spPr>
          <a:xfrm>
            <a:off x="86850" y="3074575"/>
            <a:ext cx="8970300" cy="1984500"/>
          </a:xfrm>
          <a:prstGeom prst="roundRect">
            <a:avLst>
              <a:gd fmla="val 8355" name="adj"/>
            </a:avLst>
          </a:prstGeom>
          <a:solidFill>
            <a:srgbClr val="EAD1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5"/>
          <p:cNvSpPr txBox="1"/>
          <p:nvPr/>
        </p:nvSpPr>
        <p:spPr>
          <a:xfrm>
            <a:off x="149400" y="3074575"/>
            <a:ext cx="88452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Pontano Sans"/>
                <a:ea typeface="Pontano Sans"/>
                <a:cs typeface="Pontano Sans"/>
                <a:sym typeface="Pontano Sans"/>
              </a:rPr>
              <a:t>The transit </a:t>
            </a:r>
            <a:r>
              <a:rPr b="1" lang="en" sz="1200">
                <a:solidFill>
                  <a:schemeClr val="dk1"/>
                </a:solidFill>
                <a:latin typeface="Pontano Sans"/>
                <a:ea typeface="Pontano Sans"/>
                <a:cs typeface="Pontano Sans"/>
                <a:sym typeface="Pontano Sans"/>
              </a:rPr>
              <a:t>depth of 0.000117 ± 0.000004 with respect to the normalized flux </a:t>
            </a:r>
            <a:r>
              <a:rPr lang="en" sz="1200">
                <a:solidFill>
                  <a:schemeClr val="dk1"/>
                </a:solidFill>
                <a:latin typeface="Pontano Sans"/>
                <a:ea typeface="Pontano Sans"/>
                <a:cs typeface="Pontano Sans"/>
                <a:sym typeface="Pontano Sans"/>
              </a:rPr>
              <a:t>w</a:t>
            </a:r>
            <a:r>
              <a:rPr lang="en" sz="1200">
                <a:solidFill>
                  <a:schemeClr val="dk1"/>
                </a:solidFill>
                <a:latin typeface="Pontano Sans"/>
                <a:ea typeface="Pontano Sans"/>
                <a:cs typeface="Pontano Sans"/>
                <a:sym typeface="Pontano Sans"/>
              </a:rPr>
              <a:t>ith</a:t>
            </a:r>
            <a:r>
              <a:rPr lang="en" sz="1200">
                <a:solidFill>
                  <a:schemeClr val="dk1"/>
                </a:solidFill>
                <a:latin typeface="Pontano Sans"/>
                <a:ea typeface="Pontano Sans"/>
                <a:cs typeface="Pontano Sans"/>
                <a:sym typeface="Pontano Sans"/>
              </a:rPr>
              <a:t> an</a:t>
            </a:r>
            <a:r>
              <a:rPr lang="en" sz="1200">
                <a:solidFill>
                  <a:schemeClr val="dk1"/>
                </a:solidFill>
                <a:latin typeface="Pontano Sans"/>
                <a:ea typeface="Pontano Sans"/>
                <a:cs typeface="Pontano Sans"/>
                <a:sym typeface="Pontano Sans"/>
              </a:rPr>
              <a:t> uncertainty derived from a bootstrapping method using a normal distribution of errors, which was calculated by minimizing the error in a linear regression through each transit and non-transit regions.</a:t>
            </a:r>
            <a:endParaRPr sz="1200">
              <a:solidFill>
                <a:schemeClr val="dk1"/>
              </a:solidFill>
              <a:latin typeface="Pontano Sans"/>
              <a:ea typeface="Pontano Sans"/>
              <a:cs typeface="Pontano Sans"/>
              <a:sym typeface="Pontano Sans"/>
            </a:endParaRPr>
          </a:p>
          <a:p>
            <a:pPr indent="0" lvl="0" marL="0" rtl="0" algn="l">
              <a:spcBef>
                <a:spcPts val="0"/>
              </a:spcBef>
              <a:spcAft>
                <a:spcPts val="0"/>
              </a:spcAft>
              <a:buNone/>
            </a:pPr>
            <a:r>
              <a:t/>
            </a:r>
            <a:endParaRPr sz="1200">
              <a:solidFill>
                <a:schemeClr val="dk1"/>
              </a:solidFill>
              <a:latin typeface="Pontano Sans"/>
              <a:ea typeface="Pontano Sans"/>
              <a:cs typeface="Pontano Sans"/>
              <a:sym typeface="Pontano Sans"/>
            </a:endParaRPr>
          </a:p>
          <a:p>
            <a:pPr indent="0" lvl="0" marL="0" rtl="0" algn="l">
              <a:spcBef>
                <a:spcPts val="0"/>
              </a:spcBef>
              <a:spcAft>
                <a:spcPts val="0"/>
              </a:spcAft>
              <a:buNone/>
            </a:pPr>
            <a:r>
              <a:rPr lang="en" sz="1200">
                <a:solidFill>
                  <a:schemeClr val="dk1"/>
                </a:solidFill>
                <a:latin typeface="Pontano Sans"/>
                <a:ea typeface="Pontano Sans"/>
                <a:cs typeface="Pontano Sans"/>
                <a:sym typeface="Pontano Sans"/>
              </a:rPr>
              <a:t>For quality of fitment of the model, a </a:t>
            </a:r>
            <a:r>
              <a:rPr b="1" lang="en" sz="1200">
                <a:solidFill>
                  <a:schemeClr val="dk1"/>
                </a:solidFill>
                <a:latin typeface="Pontano Sans"/>
                <a:ea typeface="Pontano Sans"/>
                <a:cs typeface="Pontano Sans"/>
                <a:sym typeface="Pontano Sans"/>
              </a:rPr>
              <a:t> χ² value of 1328.17 with 1504 data points </a:t>
            </a:r>
            <a:r>
              <a:rPr lang="en" sz="1200">
                <a:solidFill>
                  <a:schemeClr val="dk1"/>
                </a:solidFill>
                <a:latin typeface="Pontano Sans"/>
                <a:ea typeface="Pontano Sans"/>
                <a:cs typeface="Pontano Sans"/>
                <a:sym typeface="Pontano Sans"/>
              </a:rPr>
              <a:t>was calculated using the model from the global MCMC algorithm with transits included, and a residual data set without transits included to maximize the loglike error in the MCMC without directly changing the global data set before the MCMC.</a:t>
            </a:r>
            <a:endParaRPr sz="1200">
              <a:solidFill>
                <a:schemeClr val="dk1"/>
              </a:solidFill>
              <a:latin typeface="Pontano Sans"/>
              <a:ea typeface="Pontano Sans"/>
              <a:cs typeface="Pontano Sans"/>
              <a:sym typeface="Pontano Sans"/>
            </a:endParaRPr>
          </a:p>
          <a:p>
            <a:pPr indent="0" lvl="0" marL="0" rtl="0" algn="l">
              <a:spcBef>
                <a:spcPts val="0"/>
              </a:spcBef>
              <a:spcAft>
                <a:spcPts val="0"/>
              </a:spcAft>
              <a:buNone/>
            </a:pPr>
            <a:r>
              <a:t/>
            </a:r>
            <a:endParaRPr sz="1200">
              <a:solidFill>
                <a:schemeClr val="dk1"/>
              </a:solidFill>
              <a:latin typeface="Pontano Sans"/>
              <a:ea typeface="Pontano Sans"/>
              <a:cs typeface="Pontano Sans"/>
              <a:sym typeface="Pontano Sans"/>
            </a:endParaRPr>
          </a:p>
          <a:p>
            <a:pPr indent="0" lvl="0" marL="0" rtl="0" algn="l">
              <a:spcBef>
                <a:spcPts val="0"/>
              </a:spcBef>
              <a:spcAft>
                <a:spcPts val="0"/>
              </a:spcAft>
              <a:buNone/>
            </a:pPr>
            <a:r>
              <a:rPr lang="en" sz="1200">
                <a:solidFill>
                  <a:schemeClr val="dk1"/>
                </a:solidFill>
                <a:latin typeface="Pontano Sans"/>
                <a:ea typeface="Pontano Sans"/>
                <a:cs typeface="Pontano Sans"/>
                <a:sym typeface="Pontano Sans"/>
              </a:rPr>
              <a:t>We furthermore binned the residuals with a range of bin sizes between 1 and 1000, and plotted their corresponding RMS</a:t>
            </a:r>
            <a:endParaRPr sz="1200">
              <a:solidFill>
                <a:schemeClr val="dk1"/>
              </a:solidFill>
              <a:latin typeface="Pontano Sans"/>
              <a:ea typeface="Pontano Sans"/>
              <a:cs typeface="Pontano Sans"/>
              <a:sym typeface="Pontano Sans"/>
            </a:endParaRPr>
          </a:p>
          <a:p>
            <a:pPr indent="0" lvl="0" marL="0" rtl="0" algn="l">
              <a:spcBef>
                <a:spcPts val="0"/>
              </a:spcBef>
              <a:spcAft>
                <a:spcPts val="0"/>
              </a:spcAft>
              <a:buNone/>
            </a:pPr>
            <a:r>
              <a:rPr lang="en" sz="1200">
                <a:solidFill>
                  <a:schemeClr val="dk1"/>
                </a:solidFill>
                <a:latin typeface="Pontano Sans"/>
                <a:ea typeface="Pontano Sans"/>
                <a:cs typeface="Pontano Sans"/>
                <a:sym typeface="Pontano Sans"/>
              </a:rPr>
              <a:t>Lastly, we also plotted the distribution of </a:t>
            </a:r>
            <a:r>
              <a:rPr b="1" lang="en" sz="1200">
                <a:solidFill>
                  <a:schemeClr val="dk1"/>
                </a:solidFill>
                <a:latin typeface="Pontano Sans"/>
                <a:ea typeface="Pontano Sans"/>
                <a:cs typeface="Pontano Sans"/>
                <a:sym typeface="Pontano Sans"/>
              </a:rPr>
              <a:t>residuals in a histogram </a:t>
            </a:r>
            <a:r>
              <a:rPr lang="en" sz="1200">
                <a:solidFill>
                  <a:schemeClr val="dk1"/>
                </a:solidFill>
                <a:latin typeface="Pontano Sans"/>
                <a:ea typeface="Pontano Sans"/>
                <a:cs typeface="Pontano Sans"/>
                <a:sym typeface="Pontano Sans"/>
              </a:rPr>
              <a:t>centered about a </a:t>
            </a:r>
            <a:r>
              <a:rPr b="1" lang="en" sz="1200">
                <a:solidFill>
                  <a:schemeClr val="dk1"/>
                </a:solidFill>
                <a:latin typeface="Pontano Sans"/>
                <a:ea typeface="Pontano Sans"/>
                <a:cs typeface="Pontano Sans"/>
                <a:sym typeface="Pontano Sans"/>
              </a:rPr>
              <a:t>mean of 1.54 and a standard deviation of 8.70.</a:t>
            </a:r>
            <a:endParaRPr b="1" sz="1200">
              <a:solidFill>
                <a:schemeClr val="dk1"/>
              </a:solidFill>
              <a:latin typeface="Pontano Sans"/>
              <a:ea typeface="Pontano Sans"/>
              <a:cs typeface="Pontano Sans"/>
              <a:sym typeface="Pontano Sans"/>
            </a:endParaRPr>
          </a:p>
        </p:txBody>
      </p:sp>
      <p:sp>
        <p:nvSpPr>
          <p:cNvPr id="80" name="Google Shape;80;p15"/>
          <p:cNvSpPr txBox="1"/>
          <p:nvPr/>
        </p:nvSpPr>
        <p:spPr>
          <a:xfrm>
            <a:off x="147925" y="2480850"/>
            <a:ext cx="27864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solidFill>
                  <a:schemeClr val="dk1"/>
                </a:solidFill>
                <a:latin typeface="Pontano Sans"/>
                <a:ea typeface="Pontano Sans"/>
                <a:cs typeface="Pontano Sans"/>
                <a:sym typeface="Pontano Sans"/>
              </a:rPr>
              <a:t>Folded Transits and Depth</a:t>
            </a:r>
            <a:endParaRPr i="1" sz="900">
              <a:solidFill>
                <a:schemeClr val="dk1"/>
              </a:solidFill>
              <a:latin typeface="Pontano Sans"/>
              <a:ea typeface="Pontano Sans"/>
              <a:cs typeface="Pontano Sans"/>
              <a:sym typeface="Pontano Sans"/>
            </a:endParaRPr>
          </a:p>
        </p:txBody>
      </p:sp>
      <p:sp>
        <p:nvSpPr>
          <p:cNvPr id="81" name="Google Shape;81;p15"/>
          <p:cNvSpPr txBox="1"/>
          <p:nvPr/>
        </p:nvSpPr>
        <p:spPr>
          <a:xfrm>
            <a:off x="3026238" y="2521563"/>
            <a:ext cx="3091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solidFill>
                  <a:schemeClr val="dk1"/>
                </a:solidFill>
                <a:latin typeface="Pontano Sans"/>
                <a:ea typeface="Pontano Sans"/>
                <a:cs typeface="Pontano Sans"/>
                <a:sym typeface="Pontano Sans"/>
              </a:rPr>
              <a:t>RMS vs Binsize scatter plot, along with the RMS~binsize^(-0.5) line</a:t>
            </a:r>
            <a:endParaRPr i="1" sz="900">
              <a:solidFill>
                <a:schemeClr val="dk1"/>
              </a:solidFill>
              <a:latin typeface="Pontano Sans"/>
              <a:ea typeface="Pontano Sans"/>
              <a:cs typeface="Pontano Sans"/>
              <a:sym typeface="Pontano Sans"/>
            </a:endParaRPr>
          </a:p>
        </p:txBody>
      </p:sp>
      <p:sp>
        <p:nvSpPr>
          <p:cNvPr id="82" name="Google Shape;82;p15"/>
          <p:cNvSpPr txBox="1"/>
          <p:nvPr/>
        </p:nvSpPr>
        <p:spPr>
          <a:xfrm>
            <a:off x="6031410" y="2521188"/>
            <a:ext cx="3091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solidFill>
                  <a:schemeClr val="dk1"/>
                </a:solidFill>
                <a:latin typeface="Pontano Sans"/>
                <a:ea typeface="Pontano Sans"/>
                <a:cs typeface="Pontano Sans"/>
                <a:sym typeface="Pontano Sans"/>
              </a:rPr>
              <a:t>Histogram of residuals with a normal distribution of </a:t>
            </a:r>
            <a:endParaRPr i="1" sz="900">
              <a:solidFill>
                <a:schemeClr val="dk1"/>
              </a:solidFill>
              <a:latin typeface="Pontano Sans"/>
              <a:ea typeface="Pontano Sans"/>
              <a:cs typeface="Pontano Sans"/>
              <a:sym typeface="Pontano Sans"/>
            </a:endParaRPr>
          </a:p>
          <a:p>
            <a:pPr indent="0" lvl="0" marL="0" rtl="0" algn="ctr">
              <a:spcBef>
                <a:spcPts val="0"/>
              </a:spcBef>
              <a:spcAft>
                <a:spcPts val="0"/>
              </a:spcAft>
              <a:buNone/>
            </a:pPr>
            <a:r>
              <a:rPr i="1" lang="en" sz="900">
                <a:solidFill>
                  <a:schemeClr val="dk1"/>
                </a:solidFill>
                <a:latin typeface="Pontano Sans"/>
                <a:ea typeface="Pontano Sans"/>
                <a:cs typeface="Pontano Sans"/>
                <a:sym typeface="Pontano Sans"/>
              </a:rPr>
              <a:t>(mean, sd) = (-1.54,  8.70) superimposed</a:t>
            </a:r>
            <a:endParaRPr i="1" sz="900">
              <a:solidFill>
                <a:schemeClr val="dk1"/>
              </a:solidFill>
              <a:latin typeface="Pontano Sans"/>
              <a:ea typeface="Pontano Sans"/>
              <a:cs typeface="Pontano Sans"/>
              <a:sym typeface="Pontano Sans"/>
            </a:endParaRPr>
          </a:p>
        </p:txBody>
      </p:sp>
      <p:pic>
        <p:nvPicPr>
          <p:cNvPr id="83" name="Google Shape;83;p15"/>
          <p:cNvPicPr preferRelativeResize="0"/>
          <p:nvPr/>
        </p:nvPicPr>
        <p:blipFill>
          <a:blip r:embed="rId3">
            <a:alphaModFix/>
          </a:blip>
          <a:stretch>
            <a:fillRect/>
          </a:stretch>
        </p:blipFill>
        <p:spPr>
          <a:xfrm>
            <a:off x="3069413" y="750"/>
            <a:ext cx="3030871" cy="2480325"/>
          </a:xfrm>
          <a:prstGeom prst="rect">
            <a:avLst/>
          </a:prstGeom>
          <a:noFill/>
          <a:ln>
            <a:noFill/>
          </a:ln>
        </p:spPr>
      </p:pic>
      <p:pic>
        <p:nvPicPr>
          <p:cNvPr id="84" name="Google Shape;84;p15"/>
          <p:cNvPicPr preferRelativeResize="0"/>
          <p:nvPr/>
        </p:nvPicPr>
        <p:blipFill>
          <a:blip r:embed="rId4">
            <a:alphaModFix/>
          </a:blip>
          <a:stretch>
            <a:fillRect/>
          </a:stretch>
        </p:blipFill>
        <p:spPr>
          <a:xfrm>
            <a:off x="6074575" y="0"/>
            <a:ext cx="3030876" cy="2481813"/>
          </a:xfrm>
          <a:prstGeom prst="rect">
            <a:avLst/>
          </a:prstGeom>
          <a:noFill/>
          <a:ln>
            <a:noFill/>
          </a:ln>
        </p:spPr>
      </p:pic>
      <p:pic>
        <p:nvPicPr>
          <p:cNvPr id="85" name="Google Shape;85;p15"/>
          <p:cNvPicPr preferRelativeResize="0"/>
          <p:nvPr/>
        </p:nvPicPr>
        <p:blipFill rotWithShape="1">
          <a:blip r:embed="rId5">
            <a:alphaModFix/>
          </a:blip>
          <a:srcRect b="0" l="4113" r="0" t="0"/>
          <a:stretch/>
        </p:blipFill>
        <p:spPr>
          <a:xfrm>
            <a:off x="38538" y="750"/>
            <a:ext cx="3030876" cy="24803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