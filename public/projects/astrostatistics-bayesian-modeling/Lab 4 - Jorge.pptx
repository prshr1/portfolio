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Lst>
  <p:sldSz cy="5143500" cx="9144000"/>
  <p:notesSz cx="6858000" cy="9144000"/>
  <p:embeddedFontLst>
    <p:embeddedFont>
      <p:font typeface="Pontano Sans"/>
      <p:regular r:id="rId9"/>
      <p:bold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PontanoSans-bold.fntdata"/><Relationship Id="rId9" Type="http://schemas.openxmlformats.org/officeDocument/2006/relationships/font" Target="fonts/PontanoSans-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e27efea092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e27efea09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082152f1d9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2082152f1d9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12.png"/><Relationship Id="rId5" Type="http://schemas.openxmlformats.org/officeDocument/2006/relationships/image" Target="../media/image8.png"/><Relationship Id="rId6" Type="http://schemas.openxmlformats.org/officeDocument/2006/relationships/image" Target="../media/image4.png"/><Relationship Id="rId7" Type="http://schemas.openxmlformats.org/officeDocument/2006/relationships/image" Target="../media/image11.png"/><Relationship Id="rId8"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7.png"/><Relationship Id="rId6" Type="http://schemas.openxmlformats.org/officeDocument/2006/relationships/image" Target="../media/image10.png"/><Relationship Id="rId7"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1180500" y="134750"/>
            <a:ext cx="6783000" cy="585000"/>
          </a:xfrm>
          <a:prstGeom prst="roundRect">
            <a:avLst>
              <a:gd fmla="val 16667" name="adj"/>
            </a:avLst>
          </a:prstGeom>
          <a:solidFill>
            <a:srgbClr val="A2C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3"/>
          <p:cNvSpPr txBox="1"/>
          <p:nvPr/>
        </p:nvSpPr>
        <p:spPr>
          <a:xfrm>
            <a:off x="44925" y="134750"/>
            <a:ext cx="91440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600">
                <a:latin typeface="Pontano Sans"/>
                <a:ea typeface="Pontano Sans"/>
                <a:cs typeface="Pontano Sans"/>
                <a:sym typeface="Pontano Sans"/>
              </a:rPr>
              <a:t>LAB 4: Model Sel. - </a:t>
            </a:r>
            <a:r>
              <a:rPr lang="en" sz="2600">
                <a:solidFill>
                  <a:schemeClr val="dk1"/>
                </a:solidFill>
                <a:latin typeface="Pontano Sans"/>
                <a:ea typeface="Pontano Sans"/>
                <a:cs typeface="Pontano Sans"/>
                <a:sym typeface="Pontano Sans"/>
              </a:rPr>
              <a:t>Jorge Casas, Pablo Drake</a:t>
            </a:r>
            <a:endParaRPr sz="2600">
              <a:latin typeface="Pontano Sans"/>
              <a:ea typeface="Pontano Sans"/>
              <a:cs typeface="Pontano Sans"/>
              <a:sym typeface="Pontano Sans"/>
            </a:endParaRPr>
          </a:p>
        </p:txBody>
      </p:sp>
      <p:sp>
        <p:nvSpPr>
          <p:cNvPr id="56" name="Google Shape;56;p13"/>
          <p:cNvSpPr txBox="1"/>
          <p:nvPr/>
        </p:nvSpPr>
        <p:spPr>
          <a:xfrm>
            <a:off x="472950" y="719750"/>
            <a:ext cx="81981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latin typeface="Pontano Sans"/>
                <a:ea typeface="Pontano Sans"/>
                <a:cs typeface="Pontano Sans"/>
                <a:sym typeface="Pontano Sans"/>
              </a:rPr>
              <a:t>In this lab, we were tasked with validating models </a:t>
            </a:r>
            <a:r>
              <a:rPr lang="en" sz="1300">
                <a:latin typeface="Pontano Sans"/>
                <a:ea typeface="Pontano Sans"/>
                <a:cs typeface="Pontano Sans"/>
                <a:sym typeface="Pontano Sans"/>
              </a:rPr>
              <a:t>using four different model techniques, ultimately concluding that the significance of Vogt’s planet's detection is smaller than the original 4.7σ discovery.</a:t>
            </a:r>
            <a:endParaRPr b="1" sz="1300">
              <a:latin typeface="Pontano Sans"/>
              <a:ea typeface="Pontano Sans"/>
              <a:cs typeface="Pontano Sans"/>
              <a:sym typeface="Pontano Sans"/>
            </a:endParaRPr>
          </a:p>
        </p:txBody>
      </p:sp>
      <p:sp>
        <p:nvSpPr>
          <p:cNvPr id="57" name="Google Shape;57;p13"/>
          <p:cNvSpPr/>
          <p:nvPr/>
        </p:nvSpPr>
        <p:spPr>
          <a:xfrm>
            <a:off x="4985850" y="3755375"/>
            <a:ext cx="3685200" cy="1262100"/>
          </a:xfrm>
          <a:prstGeom prst="roundRect">
            <a:avLst>
              <a:gd fmla="val 16667" name="adj"/>
            </a:avLst>
          </a:prstGeom>
          <a:solidFill>
            <a:srgbClr val="A2C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3"/>
          <p:cNvSpPr txBox="1"/>
          <p:nvPr/>
        </p:nvSpPr>
        <p:spPr>
          <a:xfrm>
            <a:off x="4985850" y="3870725"/>
            <a:ext cx="3685200" cy="1031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1"/>
                </a:solidFill>
                <a:latin typeface="Pontano Sans"/>
                <a:ea typeface="Pontano Sans"/>
                <a:cs typeface="Pontano Sans"/>
                <a:sym typeface="Pontano Sans"/>
              </a:rPr>
              <a:t>We will use four models to analyze Vogt's data. These models use an equation that adds up the amplitudes, periods, and phases of all the planets. We will calculate values for K, P, and q based on Vogt's results and use them to minimize the χ² value of the models.</a:t>
            </a:r>
            <a:endParaRPr sz="1100">
              <a:solidFill>
                <a:schemeClr val="dk1"/>
              </a:solidFill>
              <a:latin typeface="Pontano Sans"/>
              <a:ea typeface="Pontano Sans"/>
              <a:cs typeface="Pontano Sans"/>
              <a:sym typeface="Pontano Sans"/>
            </a:endParaRPr>
          </a:p>
        </p:txBody>
      </p:sp>
      <p:pic>
        <p:nvPicPr>
          <p:cNvPr id="59" name="Google Shape;59;p13"/>
          <p:cNvPicPr preferRelativeResize="0"/>
          <p:nvPr/>
        </p:nvPicPr>
        <p:blipFill>
          <a:blip r:embed="rId3">
            <a:alphaModFix/>
          </a:blip>
          <a:stretch>
            <a:fillRect/>
          </a:stretch>
        </p:blipFill>
        <p:spPr>
          <a:xfrm>
            <a:off x="913238" y="1659313"/>
            <a:ext cx="2804623" cy="1824875"/>
          </a:xfrm>
          <a:prstGeom prst="rect">
            <a:avLst/>
          </a:prstGeom>
          <a:noFill/>
          <a:ln>
            <a:noFill/>
          </a:ln>
        </p:spPr>
      </p:pic>
      <p:pic>
        <p:nvPicPr>
          <p:cNvPr id="60" name="Google Shape;60;p13"/>
          <p:cNvPicPr preferRelativeResize="0"/>
          <p:nvPr/>
        </p:nvPicPr>
        <p:blipFill>
          <a:blip r:embed="rId4">
            <a:alphaModFix/>
          </a:blip>
          <a:stretch>
            <a:fillRect/>
          </a:stretch>
        </p:blipFill>
        <p:spPr>
          <a:xfrm>
            <a:off x="5380657" y="1458488"/>
            <a:ext cx="2895600" cy="2143125"/>
          </a:xfrm>
          <a:prstGeom prst="rect">
            <a:avLst/>
          </a:prstGeom>
          <a:noFill/>
          <a:ln>
            <a:noFill/>
          </a:ln>
        </p:spPr>
      </p:pic>
      <p:sp>
        <p:nvSpPr>
          <p:cNvPr id="61" name="Google Shape;61;p13"/>
          <p:cNvSpPr/>
          <p:nvPr/>
        </p:nvSpPr>
        <p:spPr>
          <a:xfrm>
            <a:off x="472950" y="3755375"/>
            <a:ext cx="3685200" cy="1262100"/>
          </a:xfrm>
          <a:prstGeom prst="roundRect">
            <a:avLst>
              <a:gd fmla="val 16667" name="adj"/>
            </a:avLst>
          </a:prstGeom>
          <a:solidFill>
            <a:srgbClr val="A2C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3"/>
          <p:cNvSpPr txBox="1"/>
          <p:nvPr/>
        </p:nvSpPr>
        <p:spPr>
          <a:xfrm>
            <a:off x="586200" y="3786125"/>
            <a:ext cx="3458700" cy="1200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lang="en" sz="1100">
                <a:solidFill>
                  <a:schemeClr val="dk1"/>
                </a:solidFill>
                <a:latin typeface="Pontano Sans"/>
                <a:ea typeface="Pontano Sans"/>
                <a:cs typeface="Pontano Sans"/>
                <a:sym typeface="Pontano Sans"/>
              </a:rPr>
              <a:t>Steven Vogt discovered Gliese 581 g, an Earth-like exoplanet, which sparked conversations about the possibility of life on it. However, a new study using more data disproved its existence. Our presentation aims to determine the significance of the detection of G581 g based on Vogt's original dataset.</a:t>
            </a:r>
            <a:endParaRPr sz="1100">
              <a:solidFill>
                <a:schemeClr val="dk1"/>
              </a:solidFill>
              <a:latin typeface="Pontano Sans"/>
              <a:ea typeface="Pontano Sans"/>
              <a:cs typeface="Pontano Sans"/>
              <a:sym typeface="Pontano Sans"/>
            </a:endParaRPr>
          </a:p>
        </p:txBody>
      </p:sp>
      <p:sp>
        <p:nvSpPr>
          <p:cNvPr id="63" name="Google Shape;63;p13"/>
          <p:cNvSpPr txBox="1"/>
          <p:nvPr/>
        </p:nvSpPr>
        <p:spPr>
          <a:xfrm>
            <a:off x="1054175" y="1458500"/>
            <a:ext cx="38409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900">
                <a:solidFill>
                  <a:schemeClr val="dk1"/>
                </a:solidFill>
                <a:latin typeface="Pontano Sans"/>
                <a:ea typeface="Pontano Sans"/>
                <a:cs typeface="Pontano Sans"/>
                <a:sym typeface="Pontano Sans"/>
              </a:rPr>
              <a:t>Credit: T.Forveille et al., 2018</a:t>
            </a:r>
            <a:endParaRPr i="1" sz="900">
              <a:solidFill>
                <a:schemeClr val="dk1"/>
              </a:solidFill>
              <a:latin typeface="Pontano Sans"/>
              <a:ea typeface="Pontano Sans"/>
              <a:cs typeface="Pontano Sans"/>
              <a:sym typeface="Pontano Sans"/>
            </a:endParaRPr>
          </a:p>
        </p:txBody>
      </p:sp>
      <p:sp>
        <p:nvSpPr>
          <p:cNvPr id="64" name="Google Shape;64;p13"/>
          <p:cNvSpPr txBox="1"/>
          <p:nvPr/>
        </p:nvSpPr>
        <p:spPr>
          <a:xfrm>
            <a:off x="5676425" y="1266925"/>
            <a:ext cx="38409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900">
                <a:solidFill>
                  <a:schemeClr val="dk1"/>
                </a:solidFill>
                <a:latin typeface="Pontano Sans"/>
                <a:ea typeface="Pontano Sans"/>
                <a:cs typeface="Pontano Sans"/>
                <a:sym typeface="Pontano Sans"/>
              </a:rPr>
              <a:t>Credit: S. Vogt et al., 2010</a:t>
            </a:r>
            <a:endParaRPr i="1" sz="900">
              <a:solidFill>
                <a:schemeClr val="dk1"/>
              </a:solidFill>
              <a:latin typeface="Pontano Sans"/>
              <a:ea typeface="Pontano Sans"/>
              <a:cs typeface="Pontano Sans"/>
              <a:sym typeface="Pontano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8" name="Shape 68"/>
        <p:cNvGrpSpPr/>
        <p:nvPr/>
      </p:nvGrpSpPr>
      <p:grpSpPr>
        <a:xfrm>
          <a:off x="0" y="0"/>
          <a:ext cx="0" cy="0"/>
          <a:chOff x="0" y="0"/>
          <a:chExt cx="0" cy="0"/>
        </a:xfrm>
      </p:grpSpPr>
      <p:sp>
        <p:nvSpPr>
          <p:cNvPr id="69" name="Google Shape;69;p14"/>
          <p:cNvSpPr/>
          <p:nvPr/>
        </p:nvSpPr>
        <p:spPr>
          <a:xfrm>
            <a:off x="380709" y="168350"/>
            <a:ext cx="2867400" cy="1088700"/>
          </a:xfrm>
          <a:prstGeom prst="roundRect">
            <a:avLst>
              <a:gd fmla="val 16667" name="adj"/>
            </a:avLst>
          </a:prstGeom>
          <a:solidFill>
            <a:srgbClr val="A2C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4"/>
          <p:cNvSpPr txBox="1"/>
          <p:nvPr/>
        </p:nvSpPr>
        <p:spPr>
          <a:xfrm>
            <a:off x="372188" y="168350"/>
            <a:ext cx="2867400" cy="1108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Pontano Sans"/>
                <a:ea typeface="Pontano Sans"/>
                <a:cs typeface="Pontano Sans"/>
                <a:sym typeface="Pontano Sans"/>
              </a:rPr>
              <a:t>Once the four models have been computed, we calculate several model comparison metrics </a:t>
            </a:r>
            <a:r>
              <a:rPr b="1" lang="en" sz="1200">
                <a:solidFill>
                  <a:schemeClr val="dk1"/>
                </a:solidFill>
                <a:latin typeface="Pontano Sans"/>
                <a:ea typeface="Pontano Sans"/>
                <a:cs typeface="Pontano Sans"/>
                <a:sym typeface="Pontano Sans"/>
              </a:rPr>
              <a:t>Eq. (2), Eq. (3), Eq. (4) </a:t>
            </a:r>
            <a:r>
              <a:rPr lang="en" sz="1200">
                <a:solidFill>
                  <a:schemeClr val="dk1"/>
                </a:solidFill>
                <a:latin typeface="Pontano Sans"/>
                <a:ea typeface="Pontano Sans"/>
                <a:cs typeface="Pontano Sans"/>
                <a:sym typeface="Pontano Sans"/>
              </a:rPr>
              <a:t>to obtain a first estimation of the best-fitting model. </a:t>
            </a:r>
            <a:endParaRPr b="1" baseline="-25000" sz="1200">
              <a:solidFill>
                <a:schemeClr val="dk1"/>
              </a:solidFill>
              <a:latin typeface="Pontano Sans"/>
              <a:ea typeface="Pontano Sans"/>
              <a:cs typeface="Pontano Sans"/>
              <a:sym typeface="Pontano Sans"/>
            </a:endParaRPr>
          </a:p>
        </p:txBody>
      </p:sp>
      <p:pic>
        <p:nvPicPr>
          <p:cNvPr id="71" name="Google Shape;71;p14"/>
          <p:cNvPicPr preferRelativeResize="0"/>
          <p:nvPr/>
        </p:nvPicPr>
        <p:blipFill>
          <a:blip r:embed="rId3">
            <a:alphaModFix/>
          </a:blip>
          <a:stretch>
            <a:fillRect/>
          </a:stretch>
        </p:blipFill>
        <p:spPr>
          <a:xfrm>
            <a:off x="324688" y="3372850"/>
            <a:ext cx="2962425" cy="1345944"/>
          </a:xfrm>
          <a:prstGeom prst="rect">
            <a:avLst/>
          </a:prstGeom>
          <a:noFill/>
          <a:ln>
            <a:noFill/>
          </a:ln>
        </p:spPr>
      </p:pic>
      <p:grpSp>
        <p:nvGrpSpPr>
          <p:cNvPr id="72" name="Google Shape;72;p14"/>
          <p:cNvGrpSpPr/>
          <p:nvPr/>
        </p:nvGrpSpPr>
        <p:grpSpPr>
          <a:xfrm>
            <a:off x="416313" y="1447383"/>
            <a:ext cx="2787662" cy="1754642"/>
            <a:chOff x="877763" y="2142521"/>
            <a:chExt cx="2787662" cy="1754642"/>
          </a:xfrm>
        </p:grpSpPr>
        <p:pic>
          <p:nvPicPr>
            <p:cNvPr id="73" name="Google Shape;73;p14"/>
            <p:cNvPicPr preferRelativeResize="0"/>
            <p:nvPr/>
          </p:nvPicPr>
          <p:blipFill>
            <a:blip r:embed="rId4">
              <a:alphaModFix/>
            </a:blip>
            <a:stretch>
              <a:fillRect/>
            </a:stretch>
          </p:blipFill>
          <p:spPr>
            <a:xfrm>
              <a:off x="877775" y="2142521"/>
              <a:ext cx="2132687" cy="482504"/>
            </a:xfrm>
            <a:prstGeom prst="rect">
              <a:avLst/>
            </a:prstGeom>
            <a:noFill/>
            <a:ln>
              <a:noFill/>
            </a:ln>
          </p:spPr>
        </p:pic>
        <p:grpSp>
          <p:nvGrpSpPr>
            <p:cNvPr id="74" name="Google Shape;74;p14"/>
            <p:cNvGrpSpPr/>
            <p:nvPr/>
          </p:nvGrpSpPr>
          <p:grpSpPr>
            <a:xfrm>
              <a:off x="877763" y="2733837"/>
              <a:ext cx="2787662" cy="1163325"/>
              <a:chOff x="431513" y="2106037"/>
              <a:chExt cx="2787662" cy="1163325"/>
            </a:xfrm>
          </p:grpSpPr>
          <p:pic>
            <p:nvPicPr>
              <p:cNvPr id="75" name="Google Shape;75;p14"/>
              <p:cNvPicPr preferRelativeResize="0"/>
              <p:nvPr/>
            </p:nvPicPr>
            <p:blipFill>
              <a:blip r:embed="rId5">
                <a:alphaModFix/>
              </a:blip>
              <a:stretch>
                <a:fillRect/>
              </a:stretch>
            </p:blipFill>
            <p:spPr>
              <a:xfrm>
                <a:off x="431513" y="2958097"/>
                <a:ext cx="2121153" cy="210570"/>
              </a:xfrm>
              <a:prstGeom prst="rect">
                <a:avLst/>
              </a:prstGeom>
              <a:noFill/>
              <a:ln>
                <a:noFill/>
              </a:ln>
            </p:spPr>
          </p:pic>
          <p:pic>
            <p:nvPicPr>
              <p:cNvPr id="76" name="Google Shape;76;p14"/>
              <p:cNvPicPr preferRelativeResize="0"/>
              <p:nvPr/>
            </p:nvPicPr>
            <p:blipFill>
              <a:blip r:embed="rId6">
                <a:alphaModFix/>
              </a:blip>
              <a:stretch>
                <a:fillRect/>
              </a:stretch>
            </p:blipFill>
            <p:spPr>
              <a:xfrm>
                <a:off x="431533" y="2609971"/>
                <a:ext cx="1725641" cy="210570"/>
              </a:xfrm>
              <a:prstGeom prst="rect">
                <a:avLst/>
              </a:prstGeom>
              <a:noFill/>
              <a:ln>
                <a:noFill/>
              </a:ln>
            </p:spPr>
          </p:pic>
          <p:pic>
            <p:nvPicPr>
              <p:cNvPr id="77" name="Google Shape;77;p14"/>
              <p:cNvPicPr preferRelativeResize="0"/>
              <p:nvPr/>
            </p:nvPicPr>
            <p:blipFill>
              <a:blip r:embed="rId7">
                <a:alphaModFix/>
              </a:blip>
              <a:stretch>
                <a:fillRect/>
              </a:stretch>
            </p:blipFill>
            <p:spPr>
              <a:xfrm>
                <a:off x="467575" y="2106037"/>
                <a:ext cx="1067926" cy="404225"/>
              </a:xfrm>
              <a:prstGeom prst="rect">
                <a:avLst/>
              </a:prstGeom>
              <a:noFill/>
              <a:ln>
                <a:noFill/>
              </a:ln>
            </p:spPr>
          </p:pic>
          <p:sp>
            <p:nvSpPr>
              <p:cNvPr id="78" name="Google Shape;78;p14"/>
              <p:cNvSpPr txBox="1"/>
              <p:nvPr/>
            </p:nvSpPr>
            <p:spPr>
              <a:xfrm>
                <a:off x="2494375" y="2161163"/>
                <a:ext cx="724800" cy="1108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Pontano Sans"/>
                    <a:ea typeface="Pontano Sans"/>
                    <a:cs typeface="Pontano Sans"/>
                    <a:sym typeface="Pontano Sans"/>
                  </a:rPr>
                  <a:t>(2)</a:t>
                </a:r>
                <a:endParaRPr sz="1200">
                  <a:solidFill>
                    <a:schemeClr val="dk1"/>
                  </a:solidFill>
                  <a:latin typeface="Pontano Sans"/>
                  <a:ea typeface="Pontano Sans"/>
                  <a:cs typeface="Pontano Sans"/>
                  <a:sym typeface="Pontano Sans"/>
                </a:endParaRPr>
              </a:p>
              <a:p>
                <a:pPr indent="0" lvl="0" marL="0" rtl="0" algn="ctr">
                  <a:spcBef>
                    <a:spcPts val="0"/>
                  </a:spcBef>
                  <a:spcAft>
                    <a:spcPts val="0"/>
                  </a:spcAft>
                  <a:buNone/>
                </a:pPr>
                <a:r>
                  <a:t/>
                </a:r>
                <a:endParaRPr sz="1200">
                  <a:solidFill>
                    <a:schemeClr val="dk1"/>
                  </a:solidFill>
                  <a:latin typeface="Pontano Sans"/>
                  <a:ea typeface="Pontano Sans"/>
                  <a:cs typeface="Pontano Sans"/>
                  <a:sym typeface="Pontano Sans"/>
                </a:endParaRPr>
              </a:p>
              <a:p>
                <a:pPr indent="0" lvl="0" marL="0" rtl="0" algn="ctr">
                  <a:spcBef>
                    <a:spcPts val="0"/>
                  </a:spcBef>
                  <a:spcAft>
                    <a:spcPts val="0"/>
                  </a:spcAft>
                  <a:buNone/>
                </a:pPr>
                <a:r>
                  <a:rPr lang="en" sz="1200">
                    <a:solidFill>
                      <a:schemeClr val="dk1"/>
                    </a:solidFill>
                    <a:latin typeface="Pontano Sans"/>
                    <a:ea typeface="Pontano Sans"/>
                    <a:cs typeface="Pontano Sans"/>
                    <a:sym typeface="Pontano Sans"/>
                  </a:rPr>
                  <a:t>(3)</a:t>
                </a:r>
                <a:endParaRPr sz="1200">
                  <a:solidFill>
                    <a:schemeClr val="dk1"/>
                  </a:solidFill>
                  <a:latin typeface="Pontano Sans"/>
                  <a:ea typeface="Pontano Sans"/>
                  <a:cs typeface="Pontano Sans"/>
                  <a:sym typeface="Pontano Sans"/>
                </a:endParaRPr>
              </a:p>
              <a:p>
                <a:pPr indent="0" lvl="0" marL="0" rtl="0" algn="ctr">
                  <a:spcBef>
                    <a:spcPts val="0"/>
                  </a:spcBef>
                  <a:spcAft>
                    <a:spcPts val="0"/>
                  </a:spcAft>
                  <a:buNone/>
                </a:pPr>
                <a:r>
                  <a:t/>
                </a:r>
                <a:endParaRPr sz="1200">
                  <a:solidFill>
                    <a:schemeClr val="dk1"/>
                  </a:solidFill>
                  <a:latin typeface="Pontano Sans"/>
                  <a:ea typeface="Pontano Sans"/>
                  <a:cs typeface="Pontano Sans"/>
                  <a:sym typeface="Pontano Sans"/>
                </a:endParaRPr>
              </a:p>
              <a:p>
                <a:pPr indent="0" lvl="0" marL="0" rtl="0" algn="ctr">
                  <a:spcBef>
                    <a:spcPts val="0"/>
                  </a:spcBef>
                  <a:spcAft>
                    <a:spcPts val="0"/>
                  </a:spcAft>
                  <a:buClr>
                    <a:schemeClr val="dk1"/>
                  </a:buClr>
                  <a:buSzPts val="1100"/>
                  <a:buFont typeface="Arial"/>
                  <a:buNone/>
                </a:pPr>
                <a:r>
                  <a:rPr lang="en" sz="1200">
                    <a:solidFill>
                      <a:schemeClr val="dk1"/>
                    </a:solidFill>
                    <a:latin typeface="Pontano Sans"/>
                    <a:ea typeface="Pontano Sans"/>
                    <a:cs typeface="Pontano Sans"/>
                    <a:sym typeface="Pontano Sans"/>
                  </a:rPr>
                  <a:t>(4)</a:t>
                </a:r>
                <a:endParaRPr sz="1200">
                  <a:solidFill>
                    <a:schemeClr val="dk1"/>
                  </a:solidFill>
                  <a:latin typeface="Pontano Sans"/>
                  <a:ea typeface="Pontano Sans"/>
                  <a:cs typeface="Pontano Sans"/>
                  <a:sym typeface="Pontano Sans"/>
                </a:endParaRPr>
              </a:p>
            </p:txBody>
          </p:sp>
        </p:grpSp>
        <p:sp>
          <p:nvSpPr>
            <p:cNvPr id="79" name="Google Shape;79;p14"/>
            <p:cNvSpPr txBox="1"/>
            <p:nvPr/>
          </p:nvSpPr>
          <p:spPr>
            <a:xfrm>
              <a:off x="2934275" y="2199125"/>
              <a:ext cx="7311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Pontano Sans"/>
                  <a:ea typeface="Pontano Sans"/>
                  <a:cs typeface="Pontano Sans"/>
                  <a:sym typeface="Pontano Sans"/>
                </a:rPr>
                <a:t>(1)</a:t>
              </a:r>
              <a:endParaRPr b="1" baseline="-25000" sz="1200">
                <a:solidFill>
                  <a:schemeClr val="dk1"/>
                </a:solidFill>
                <a:latin typeface="Pontano Sans"/>
                <a:ea typeface="Pontano Sans"/>
                <a:cs typeface="Pontano Sans"/>
                <a:sym typeface="Pontano Sans"/>
              </a:endParaRPr>
            </a:p>
          </p:txBody>
        </p:sp>
      </p:grpSp>
      <p:sp>
        <p:nvSpPr>
          <p:cNvPr id="80" name="Google Shape;80;p14"/>
          <p:cNvSpPr/>
          <p:nvPr/>
        </p:nvSpPr>
        <p:spPr>
          <a:xfrm>
            <a:off x="3897390" y="3799425"/>
            <a:ext cx="4867200" cy="1245900"/>
          </a:xfrm>
          <a:prstGeom prst="roundRect">
            <a:avLst>
              <a:gd fmla="val 16667" name="adj"/>
            </a:avLst>
          </a:prstGeom>
          <a:solidFill>
            <a:srgbClr val="A2C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4"/>
          <p:cNvSpPr txBox="1"/>
          <p:nvPr/>
        </p:nvSpPr>
        <p:spPr>
          <a:xfrm>
            <a:off x="3882925" y="3799425"/>
            <a:ext cx="4867200" cy="1293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dk1"/>
                </a:solidFill>
                <a:latin typeface="Pontano Sans"/>
                <a:ea typeface="Pontano Sans"/>
                <a:cs typeface="Pontano Sans"/>
                <a:sym typeface="Pontano Sans"/>
              </a:rPr>
              <a:t>An MCMC algorithm was also used to independently </a:t>
            </a:r>
            <a:r>
              <a:rPr lang="en" sz="1200">
                <a:solidFill>
                  <a:schemeClr val="dk1"/>
                </a:solidFill>
                <a:latin typeface="Pontano Sans"/>
                <a:ea typeface="Pontano Sans"/>
                <a:cs typeface="Pontano Sans"/>
                <a:sym typeface="Pontano Sans"/>
              </a:rPr>
              <a:t>validate</a:t>
            </a:r>
            <a:r>
              <a:rPr lang="en" sz="1200">
                <a:solidFill>
                  <a:schemeClr val="dk1"/>
                </a:solidFill>
                <a:latin typeface="Pontano Sans"/>
                <a:ea typeface="Pontano Sans"/>
                <a:cs typeface="Pontano Sans"/>
                <a:sym typeface="Pontano Sans"/>
              </a:rPr>
              <a:t> the Vogt’s results for the first planet using model </a:t>
            </a:r>
            <a:r>
              <a:rPr b="1" lang="en" sz="1200">
                <a:solidFill>
                  <a:schemeClr val="dk1"/>
                </a:solidFill>
                <a:latin typeface="Pontano Sans"/>
                <a:ea typeface="Pontano Sans"/>
                <a:cs typeface="Pontano Sans"/>
                <a:sym typeface="Pontano Sans"/>
              </a:rPr>
              <a:t>Eq. (1) </a:t>
            </a:r>
            <a:r>
              <a:rPr lang="en" sz="1200">
                <a:solidFill>
                  <a:schemeClr val="dk1"/>
                </a:solidFill>
                <a:latin typeface="Pontano Sans"/>
                <a:ea typeface="Pontano Sans"/>
                <a:cs typeface="Pontano Sans"/>
                <a:sym typeface="Pontano Sans"/>
              </a:rPr>
              <a:t>through loglike minimization. Interestingly, the MCMC does not converge on Vogt’s with the </a:t>
            </a:r>
            <a:r>
              <a:rPr lang="en" sz="1200">
                <a:solidFill>
                  <a:schemeClr val="dk1"/>
                </a:solidFill>
                <a:latin typeface="Pontano Sans"/>
                <a:ea typeface="Pontano Sans"/>
                <a:cs typeface="Pontano Sans"/>
                <a:sym typeface="Pontano Sans"/>
              </a:rPr>
              <a:t>following being the proposed values:</a:t>
            </a:r>
            <a:endParaRPr sz="1200">
              <a:solidFill>
                <a:schemeClr val="dk1"/>
              </a:solidFill>
              <a:latin typeface="Pontano Sans"/>
              <a:ea typeface="Pontano Sans"/>
              <a:cs typeface="Pontano Sans"/>
              <a:sym typeface="Pontano Sans"/>
            </a:endParaRPr>
          </a:p>
          <a:p>
            <a:pPr indent="0" lvl="0" marL="0" rtl="0" algn="ctr">
              <a:spcBef>
                <a:spcPts val="0"/>
              </a:spcBef>
              <a:spcAft>
                <a:spcPts val="0"/>
              </a:spcAft>
              <a:buNone/>
            </a:pPr>
            <a:r>
              <a:rPr b="1" lang="en" sz="1200">
                <a:solidFill>
                  <a:schemeClr val="dk1"/>
                </a:solidFill>
                <a:latin typeface="Pontano Sans"/>
                <a:ea typeface="Pontano Sans"/>
                <a:cs typeface="Pontano Sans"/>
                <a:sym typeface="Pontano Sans"/>
              </a:rPr>
              <a:t>Kb: 0.96	Pb: 22.87	qb: -4.57</a:t>
            </a:r>
            <a:endParaRPr b="1" sz="1200">
              <a:solidFill>
                <a:schemeClr val="dk1"/>
              </a:solidFill>
              <a:latin typeface="Pontano Sans"/>
              <a:ea typeface="Pontano Sans"/>
              <a:cs typeface="Pontano Sans"/>
              <a:sym typeface="Pontano Sans"/>
            </a:endParaRPr>
          </a:p>
          <a:p>
            <a:pPr indent="0" lvl="0" marL="0" rtl="0" algn="ctr">
              <a:spcBef>
                <a:spcPts val="0"/>
              </a:spcBef>
              <a:spcAft>
                <a:spcPts val="0"/>
              </a:spcAft>
              <a:buNone/>
            </a:pPr>
            <a:r>
              <a:rPr b="1" lang="en" sz="1200">
                <a:solidFill>
                  <a:schemeClr val="dk1"/>
                </a:solidFill>
                <a:latin typeface="Pontano Sans"/>
                <a:ea typeface="Pontano Sans"/>
                <a:cs typeface="Pontano Sans"/>
                <a:sym typeface="Pontano Sans"/>
              </a:rPr>
              <a:t>Note: </a:t>
            </a:r>
            <a:r>
              <a:rPr lang="en" sz="1200">
                <a:solidFill>
                  <a:schemeClr val="dk1"/>
                </a:solidFill>
                <a:latin typeface="Pontano Sans"/>
                <a:ea typeface="Pontano Sans"/>
                <a:cs typeface="Pontano Sans"/>
                <a:sym typeface="Pontano Sans"/>
              </a:rPr>
              <a:t>The phase parameter never converged to a normally dist. value.</a:t>
            </a:r>
            <a:endParaRPr sz="1200">
              <a:solidFill>
                <a:schemeClr val="dk1"/>
              </a:solidFill>
              <a:latin typeface="Pontano Sans"/>
              <a:ea typeface="Pontano Sans"/>
              <a:cs typeface="Pontano Sans"/>
              <a:sym typeface="Pontano Sans"/>
            </a:endParaRPr>
          </a:p>
        </p:txBody>
      </p:sp>
      <p:pic>
        <p:nvPicPr>
          <p:cNvPr id="82" name="Google Shape;82;p14"/>
          <p:cNvPicPr preferRelativeResize="0"/>
          <p:nvPr/>
        </p:nvPicPr>
        <p:blipFill>
          <a:blip r:embed="rId8">
            <a:alphaModFix/>
          </a:blip>
          <a:stretch>
            <a:fillRect/>
          </a:stretch>
        </p:blipFill>
        <p:spPr>
          <a:xfrm>
            <a:off x="4016825" y="42800"/>
            <a:ext cx="4628352" cy="37094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6" name="Shape 86"/>
        <p:cNvGrpSpPr/>
        <p:nvPr/>
      </p:nvGrpSpPr>
      <p:grpSpPr>
        <a:xfrm>
          <a:off x="0" y="0"/>
          <a:ext cx="0" cy="0"/>
          <a:chOff x="0" y="0"/>
          <a:chExt cx="0" cy="0"/>
        </a:xfrm>
      </p:grpSpPr>
      <p:pic>
        <p:nvPicPr>
          <p:cNvPr id="87" name="Google Shape;87;p15"/>
          <p:cNvPicPr preferRelativeResize="0"/>
          <p:nvPr/>
        </p:nvPicPr>
        <p:blipFill>
          <a:blip r:embed="rId3">
            <a:alphaModFix/>
          </a:blip>
          <a:stretch>
            <a:fillRect/>
          </a:stretch>
        </p:blipFill>
        <p:spPr>
          <a:xfrm>
            <a:off x="4647200" y="4728212"/>
            <a:ext cx="512525" cy="337425"/>
          </a:xfrm>
          <a:prstGeom prst="rect">
            <a:avLst/>
          </a:prstGeom>
          <a:noFill/>
          <a:ln>
            <a:noFill/>
          </a:ln>
        </p:spPr>
      </p:pic>
      <p:pic>
        <p:nvPicPr>
          <p:cNvPr id="88" name="Google Shape;88;p15"/>
          <p:cNvPicPr preferRelativeResize="0"/>
          <p:nvPr/>
        </p:nvPicPr>
        <p:blipFill>
          <a:blip r:embed="rId4">
            <a:alphaModFix/>
          </a:blip>
          <a:stretch>
            <a:fillRect/>
          </a:stretch>
        </p:blipFill>
        <p:spPr>
          <a:xfrm>
            <a:off x="5824500" y="4711913"/>
            <a:ext cx="512525" cy="369988"/>
          </a:xfrm>
          <a:prstGeom prst="rect">
            <a:avLst/>
          </a:prstGeom>
          <a:noFill/>
          <a:ln>
            <a:noFill/>
          </a:ln>
        </p:spPr>
      </p:pic>
      <p:pic>
        <p:nvPicPr>
          <p:cNvPr id="89" name="Google Shape;89;p15"/>
          <p:cNvPicPr preferRelativeResize="0"/>
          <p:nvPr/>
        </p:nvPicPr>
        <p:blipFill>
          <a:blip r:embed="rId5">
            <a:alphaModFix/>
          </a:blip>
          <a:stretch>
            <a:fillRect/>
          </a:stretch>
        </p:blipFill>
        <p:spPr>
          <a:xfrm>
            <a:off x="6914675" y="4705100"/>
            <a:ext cx="512525" cy="383616"/>
          </a:xfrm>
          <a:prstGeom prst="rect">
            <a:avLst/>
          </a:prstGeom>
          <a:noFill/>
          <a:ln>
            <a:noFill/>
          </a:ln>
        </p:spPr>
      </p:pic>
      <p:pic>
        <p:nvPicPr>
          <p:cNvPr id="90" name="Google Shape;90;p15"/>
          <p:cNvPicPr preferRelativeResize="0"/>
          <p:nvPr/>
        </p:nvPicPr>
        <p:blipFill>
          <a:blip r:embed="rId6">
            <a:alphaModFix/>
          </a:blip>
          <a:stretch>
            <a:fillRect/>
          </a:stretch>
        </p:blipFill>
        <p:spPr>
          <a:xfrm>
            <a:off x="8004850" y="4705113"/>
            <a:ext cx="698026" cy="383600"/>
          </a:xfrm>
          <a:prstGeom prst="rect">
            <a:avLst/>
          </a:prstGeom>
          <a:noFill/>
          <a:ln>
            <a:noFill/>
          </a:ln>
        </p:spPr>
      </p:pic>
      <p:sp>
        <p:nvSpPr>
          <p:cNvPr id="91" name="Google Shape;91;p15"/>
          <p:cNvSpPr/>
          <p:nvPr/>
        </p:nvSpPr>
        <p:spPr>
          <a:xfrm>
            <a:off x="220825" y="223050"/>
            <a:ext cx="2698800" cy="4617600"/>
          </a:xfrm>
          <a:prstGeom prst="roundRect">
            <a:avLst>
              <a:gd fmla="val 5831" name="adj"/>
            </a:avLst>
          </a:prstGeom>
          <a:solidFill>
            <a:srgbClr val="A2C4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5"/>
          <p:cNvSpPr txBox="1"/>
          <p:nvPr/>
        </p:nvSpPr>
        <p:spPr>
          <a:xfrm>
            <a:off x="220825" y="223056"/>
            <a:ext cx="2698800" cy="4617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Pontano Sans"/>
                <a:ea typeface="Pontano Sans"/>
                <a:cs typeface="Pontano Sans"/>
                <a:sym typeface="Pontano Sans"/>
              </a:rPr>
              <a:t>We will also test the performance of our models using three cross-validation techniques, including:</a:t>
            </a:r>
            <a:endParaRPr sz="1200">
              <a:solidFill>
                <a:schemeClr val="dk1"/>
              </a:solidFill>
              <a:latin typeface="Pontano Sans"/>
              <a:ea typeface="Pontano Sans"/>
              <a:cs typeface="Pontano Sans"/>
              <a:sym typeface="Pontano Sans"/>
            </a:endParaRPr>
          </a:p>
          <a:p>
            <a:pPr indent="0" lvl="0" marL="0" rtl="0" algn="l">
              <a:spcBef>
                <a:spcPts val="0"/>
              </a:spcBef>
              <a:spcAft>
                <a:spcPts val="0"/>
              </a:spcAft>
              <a:buNone/>
            </a:pPr>
            <a:r>
              <a:t/>
            </a:r>
            <a:endParaRPr sz="1200">
              <a:solidFill>
                <a:schemeClr val="dk1"/>
              </a:solidFill>
              <a:latin typeface="Pontano Sans"/>
              <a:ea typeface="Pontano Sans"/>
              <a:cs typeface="Pontano Sans"/>
              <a:sym typeface="Pontano Sans"/>
            </a:endParaRPr>
          </a:p>
          <a:p>
            <a:pPr indent="0" lvl="0" marL="0" rtl="0" algn="l">
              <a:spcBef>
                <a:spcPts val="0"/>
              </a:spcBef>
              <a:spcAft>
                <a:spcPts val="0"/>
              </a:spcAft>
              <a:buNone/>
            </a:pPr>
            <a:r>
              <a:rPr b="1" lang="en" sz="1200">
                <a:solidFill>
                  <a:schemeClr val="dk1"/>
                </a:solidFill>
                <a:latin typeface="Pontano Sans"/>
                <a:ea typeface="Pontano Sans"/>
                <a:cs typeface="Pontano Sans"/>
                <a:sym typeface="Pontano Sans"/>
              </a:rPr>
              <a:t>M0 μ: 428.67 	Mf μ: 1281.33</a:t>
            </a:r>
            <a:endParaRPr b="1" sz="1200">
              <a:solidFill>
                <a:schemeClr val="dk1"/>
              </a:solidFill>
              <a:latin typeface="Pontano Sans"/>
              <a:ea typeface="Pontano Sans"/>
              <a:cs typeface="Pontano Sans"/>
              <a:sym typeface="Pontano Sans"/>
            </a:endParaRPr>
          </a:p>
          <a:p>
            <a:pPr indent="0" lvl="0" marL="0" rtl="0" algn="l">
              <a:spcBef>
                <a:spcPts val="0"/>
              </a:spcBef>
              <a:spcAft>
                <a:spcPts val="0"/>
              </a:spcAft>
              <a:buNone/>
            </a:pPr>
            <a:r>
              <a:t/>
            </a:r>
            <a:endParaRPr b="1" sz="1200">
              <a:solidFill>
                <a:schemeClr val="dk1"/>
              </a:solidFill>
              <a:latin typeface="Pontano Sans"/>
              <a:ea typeface="Pontano Sans"/>
              <a:cs typeface="Pontano Sans"/>
              <a:sym typeface="Pontano Sans"/>
            </a:endParaRPr>
          </a:p>
          <a:p>
            <a:pPr indent="0" lvl="0" marL="0" rtl="0" algn="l">
              <a:spcBef>
                <a:spcPts val="0"/>
              </a:spcBef>
              <a:spcAft>
                <a:spcPts val="0"/>
              </a:spcAft>
              <a:buNone/>
            </a:pPr>
            <a:r>
              <a:rPr b="1" lang="en" sz="1200">
                <a:solidFill>
                  <a:schemeClr val="dk1"/>
                </a:solidFill>
                <a:latin typeface="Pontano Sans"/>
                <a:ea typeface="Pontano Sans"/>
                <a:cs typeface="Pontano Sans"/>
                <a:sym typeface="Pontano Sans"/>
              </a:rPr>
              <a:t>Mg μ: 1657.0 	Mfg μ: 6633.0</a:t>
            </a:r>
            <a:endParaRPr b="1" sz="1200">
              <a:solidFill>
                <a:schemeClr val="dk1"/>
              </a:solidFill>
              <a:latin typeface="Pontano Sans"/>
              <a:ea typeface="Pontano Sans"/>
              <a:cs typeface="Pontano Sans"/>
              <a:sym typeface="Pontano Sans"/>
            </a:endParaRPr>
          </a:p>
          <a:p>
            <a:pPr indent="0" lvl="0" marL="0" rtl="0" algn="l">
              <a:spcBef>
                <a:spcPts val="0"/>
              </a:spcBef>
              <a:spcAft>
                <a:spcPts val="0"/>
              </a:spcAft>
              <a:buNone/>
            </a:pPr>
            <a:r>
              <a:t/>
            </a:r>
            <a:endParaRPr sz="1200">
              <a:solidFill>
                <a:schemeClr val="dk1"/>
              </a:solidFill>
              <a:latin typeface="Pontano Sans"/>
              <a:ea typeface="Pontano Sans"/>
              <a:cs typeface="Pontano Sans"/>
              <a:sym typeface="Pontano Sans"/>
            </a:endParaRPr>
          </a:p>
          <a:p>
            <a:pPr indent="0" lvl="0" marL="0" rtl="0" algn="l">
              <a:spcBef>
                <a:spcPts val="0"/>
              </a:spcBef>
              <a:spcAft>
                <a:spcPts val="0"/>
              </a:spcAft>
              <a:buNone/>
            </a:pPr>
            <a:r>
              <a:rPr lang="en" sz="1200">
                <a:solidFill>
                  <a:schemeClr val="dk1"/>
                </a:solidFill>
                <a:latin typeface="Pontano Sans"/>
                <a:ea typeface="Pontano Sans"/>
                <a:cs typeface="Pontano Sans"/>
                <a:sym typeface="Pontano Sans"/>
              </a:rPr>
              <a:t>K-folding training allows for the partitioning of data into k equally sized parts and using each fold as a validation set, while the remaining k-1 folds are used to train the model. The 24-fold technique is the most exhaustive and homogeneous. </a:t>
            </a:r>
            <a:endParaRPr sz="1200">
              <a:solidFill>
                <a:schemeClr val="dk1"/>
              </a:solidFill>
              <a:latin typeface="Pontano Sans"/>
              <a:ea typeface="Pontano Sans"/>
              <a:cs typeface="Pontano Sans"/>
              <a:sym typeface="Pontano Sans"/>
            </a:endParaRPr>
          </a:p>
          <a:p>
            <a:pPr indent="0" lvl="0" marL="0" rtl="0" algn="l">
              <a:spcBef>
                <a:spcPts val="0"/>
              </a:spcBef>
              <a:spcAft>
                <a:spcPts val="0"/>
              </a:spcAft>
              <a:buNone/>
            </a:pPr>
            <a:r>
              <a:t/>
            </a:r>
            <a:endParaRPr sz="1200">
              <a:solidFill>
                <a:schemeClr val="dk1"/>
              </a:solidFill>
              <a:latin typeface="Pontano Sans"/>
              <a:ea typeface="Pontano Sans"/>
              <a:cs typeface="Pontano Sans"/>
              <a:sym typeface="Pontano Sans"/>
            </a:endParaRPr>
          </a:p>
          <a:p>
            <a:pPr indent="0" lvl="0" marL="0" rtl="0" algn="l">
              <a:spcBef>
                <a:spcPts val="0"/>
              </a:spcBef>
              <a:spcAft>
                <a:spcPts val="0"/>
              </a:spcAft>
              <a:buNone/>
            </a:pPr>
            <a:r>
              <a:rPr lang="en" sz="1200">
                <a:solidFill>
                  <a:schemeClr val="dk1"/>
                </a:solidFill>
                <a:latin typeface="Pontano Sans"/>
                <a:ea typeface="Pontano Sans"/>
                <a:cs typeface="Pontano Sans"/>
                <a:sym typeface="Pontano Sans"/>
              </a:rPr>
              <a:t>Although the Mfg </a:t>
            </a:r>
            <a:r>
              <a:rPr lang="en" sz="1200">
                <a:solidFill>
                  <a:schemeClr val="dk1"/>
                </a:solidFill>
                <a:latin typeface="Pontano Sans"/>
                <a:ea typeface="Pontano Sans"/>
                <a:cs typeface="Pontano Sans"/>
                <a:sym typeface="Pontano Sans"/>
              </a:rPr>
              <a:t>model </a:t>
            </a:r>
            <a:r>
              <a:rPr lang="en" sz="1200">
                <a:solidFill>
                  <a:schemeClr val="dk1"/>
                </a:solidFill>
                <a:latin typeface="Pontano Sans"/>
                <a:ea typeface="Pontano Sans"/>
                <a:cs typeface="Pontano Sans"/>
                <a:sym typeface="Pontano Sans"/>
              </a:rPr>
              <a:t>appears to be the best, and is the best in just under  70% of cases, with models Mf &amp; Mg being above 5% and M0 being under 5%. This implies that the significance of the existence of planet G581 g is much lower than the previously claimed 4.7σ. </a:t>
            </a:r>
            <a:endParaRPr sz="1200">
              <a:solidFill>
                <a:schemeClr val="dk1"/>
              </a:solidFill>
              <a:latin typeface="Pontano Sans"/>
              <a:ea typeface="Pontano Sans"/>
              <a:cs typeface="Pontano Sans"/>
              <a:sym typeface="Pontano Sans"/>
            </a:endParaRPr>
          </a:p>
        </p:txBody>
      </p:sp>
      <p:pic>
        <p:nvPicPr>
          <p:cNvPr id="93" name="Google Shape;93;p15"/>
          <p:cNvPicPr preferRelativeResize="0"/>
          <p:nvPr/>
        </p:nvPicPr>
        <p:blipFill>
          <a:blip r:embed="rId7">
            <a:alphaModFix/>
          </a:blip>
          <a:stretch>
            <a:fillRect/>
          </a:stretch>
        </p:blipFill>
        <p:spPr>
          <a:xfrm>
            <a:off x="3299338" y="371600"/>
            <a:ext cx="5562849" cy="44003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