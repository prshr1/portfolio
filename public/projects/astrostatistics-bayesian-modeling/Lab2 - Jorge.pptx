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Pontano Sans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PontanoSans-bold.fntdata"/><Relationship Id="rId9" Type="http://schemas.openxmlformats.org/officeDocument/2006/relationships/font" Target="fonts/Pontano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82152f1d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82152f1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18032ce45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18032ce45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082152f1d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082152f1d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80500" y="134750"/>
            <a:ext cx="6783000" cy="5850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99575" y="4132775"/>
            <a:ext cx="3458700" cy="884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4925" y="1347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Pontano Sans"/>
                <a:ea typeface="Pontano Sans"/>
                <a:cs typeface="Pontano Sans"/>
                <a:sym typeface="Pontano Sans"/>
              </a:rPr>
              <a:t>LAB 2: MCMC - </a:t>
            </a:r>
            <a:r>
              <a:rPr lang="en" sz="2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Jorge Casas, Pablo Drake</a:t>
            </a:r>
            <a:endParaRPr sz="26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99575" y="4113425"/>
            <a:ext cx="3458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The raw data points come in log-linear space, with the flux in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logarithmic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scale and the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wavelength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in a linear scale. Plotting a black-body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distribution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on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this interval and fitting it manually gives us this.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089300" y="3242800"/>
            <a:ext cx="3458700" cy="17748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472950" y="719750"/>
            <a:ext cx="819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We will be looking at the raw flux 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data and fitting the Planck Distribution to this data. Doing so, iteratively via Markov Chain Monte Carlo simulation, we can estimate the effective temperature, </a:t>
            </a:r>
            <a:r>
              <a:rPr i="1" lang="en"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>
                <a:latin typeface="Pontano Sans"/>
                <a:ea typeface="Pontano Sans"/>
                <a:cs typeface="Pontano Sans"/>
                <a:sym typeface="Pontano Sans"/>
              </a:rPr>
              <a:t>eff  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of cool brown dwarfs.</a:t>
            </a:r>
            <a:endParaRPr b="1"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089300" y="3308100"/>
            <a:ext cx="3458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These are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the main equations in use for the MCMC algorithm.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ontano Sans"/>
                <a:ea typeface="Pontano Sans"/>
                <a:cs typeface="Pontano Sans"/>
                <a:sym typeface="Pontano Sans"/>
              </a:rPr>
              <a:t>Eq. 1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is the model equation that will calculate the log of the flux parameter with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 sz="1200">
                <a:latin typeface="Pontano Sans"/>
                <a:ea typeface="Pontano Sans"/>
                <a:cs typeface="Pontano Sans"/>
                <a:sym typeface="Pontano Sans"/>
              </a:rPr>
              <a:t>eff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embedded in the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b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variable.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ontano Sans"/>
                <a:ea typeface="Pontano Sans"/>
                <a:cs typeface="Pontano Sans"/>
                <a:sym typeface="Pontano Sans"/>
              </a:rPr>
              <a:t>Eq. 2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is the likelihood function used in this algorithm, which will calculate the likelihood probability of trial parameters.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5510" l="0" r="0" t="11377"/>
          <a:stretch/>
        </p:blipFill>
        <p:spPr>
          <a:xfrm>
            <a:off x="330237" y="1267950"/>
            <a:ext cx="4197376" cy="278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0150" y="2556487"/>
            <a:ext cx="4070199" cy="3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8671050" y="1696725"/>
            <a:ext cx="483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(1)</a:t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(2)</a:t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7800" y="1608875"/>
            <a:ext cx="4070201" cy="55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4"/>
          <p:cNvGrpSpPr/>
          <p:nvPr/>
        </p:nvGrpSpPr>
        <p:grpSpPr>
          <a:xfrm>
            <a:off x="108500" y="88350"/>
            <a:ext cx="6006600" cy="4966800"/>
            <a:chOff x="1602575" y="119700"/>
            <a:chExt cx="6006600" cy="4966800"/>
          </a:xfrm>
        </p:grpSpPr>
        <p:sp>
          <p:nvSpPr>
            <p:cNvPr id="70" name="Google Shape;70;p14"/>
            <p:cNvSpPr/>
            <p:nvPr/>
          </p:nvSpPr>
          <p:spPr>
            <a:xfrm>
              <a:off x="1602575" y="119700"/>
              <a:ext cx="6006600" cy="4966800"/>
            </a:xfrm>
            <a:prstGeom prst="roundRect">
              <a:avLst>
                <a:gd fmla="val 3676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" name="Google Shape;7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36471" y="191850"/>
              <a:ext cx="5938826" cy="4759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4"/>
          <p:cNvSpPr txBox="1"/>
          <p:nvPr/>
        </p:nvSpPr>
        <p:spPr>
          <a:xfrm>
            <a:off x="6196750" y="355200"/>
            <a:ext cx="28581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On the initial run for our custom MCMC, we corroborated the validity of the code by plotting diagnostic plots.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On the top left, the plot of the likelihood function over the amount of iterations for the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loop,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which was maxed out at 100,000 iterations. Top right, the plot of the walking parameters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 sz="1200">
                <a:latin typeface="Pontano Sans"/>
                <a:ea typeface="Pontano Sans"/>
                <a:cs typeface="Pontano Sans"/>
                <a:sym typeface="Pontano Sans"/>
              </a:rPr>
              <a:t>eff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and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alpha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shows the initial conditions set by the uniform function as printed in the title.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Middle left, shows the plot of the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 sz="1200">
                <a:latin typeface="Pontano Sans"/>
                <a:ea typeface="Pontano Sans"/>
                <a:cs typeface="Pontano Sans"/>
                <a:sym typeface="Pontano Sans"/>
              </a:rPr>
              <a:t>eff 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temperature value over the iterations, including the burn in stage. The same is shown for the </a:t>
            </a:r>
            <a:r>
              <a:rPr i="1" lang="en" sz="1200">
                <a:latin typeface="Pontano Sans"/>
                <a:ea typeface="Pontano Sans"/>
                <a:cs typeface="Pontano Sans"/>
                <a:sym typeface="Pontano Sans"/>
              </a:rPr>
              <a:t>alpha</a:t>
            </a:r>
            <a:r>
              <a:rPr lang="en" sz="1200">
                <a:latin typeface="Pontano Sans"/>
                <a:ea typeface="Pontano Sans"/>
                <a:cs typeface="Pontano Sans"/>
                <a:sym typeface="Pontano Sans"/>
              </a:rPr>
              <a:t> value in the middle right plot. </a:t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Lastly, the bottom two plots show the same as the middle two plots post burn in via a median </a:t>
            </a: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method. This shows that the parameter is n</a:t>
            </a: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ormally distributed </a:t>
            </a: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about</a:t>
            </a:r>
            <a:r>
              <a:rPr lang="en" sz="12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the median</a:t>
            </a:r>
            <a:endParaRPr sz="1300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238950" y="169125"/>
            <a:ext cx="47472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From the 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Log-Uniform Posterior Distributions Medians</a:t>
            </a:r>
            <a:r>
              <a:rPr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: </a:t>
            </a:r>
            <a:endParaRPr>
              <a:solidFill>
                <a:srgbClr val="000000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>
                <a:latin typeface="Pontano Sans"/>
                <a:ea typeface="Pontano Sans"/>
                <a:cs typeface="Pontano Sans"/>
                <a:sym typeface="Pontano Sans"/>
              </a:rPr>
              <a:t>eff</a:t>
            </a:r>
            <a:r>
              <a:rPr i="1" lang="en">
                <a:latin typeface="Pontano Sans"/>
                <a:ea typeface="Pontano Sans"/>
                <a:cs typeface="Pontano Sans"/>
                <a:sym typeface="Pontano Sans"/>
              </a:rPr>
              <a:t>: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		</a:t>
            </a:r>
            <a:r>
              <a:rPr b="1" lang="en">
                <a:latin typeface="Pontano Sans"/>
                <a:ea typeface="Pontano Sans"/>
                <a:cs typeface="Pontano Sans"/>
                <a:sym typeface="Pontano Sans"/>
              </a:rPr>
              <a:t>252.11 	</a:t>
            </a:r>
            <a:r>
              <a:rPr lang="en">
                <a:latin typeface="Pontano Sans"/>
                <a:ea typeface="Pontano Sans"/>
                <a:cs typeface="Pontano Sans"/>
                <a:sym typeface="Pontano Sans"/>
              </a:rPr>
              <a:t>+3.38/-3.28	</a:t>
            </a:r>
            <a:r>
              <a:rPr b="1" lang="en">
                <a:latin typeface="Pontano Sans"/>
                <a:ea typeface="Pontano Sans"/>
                <a:cs typeface="Pontano Sans"/>
                <a:sym typeface="Pontano Sans"/>
              </a:rPr>
              <a:t>	[K]</a:t>
            </a:r>
            <a:endParaRPr b="1"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Pontano Sans"/>
                <a:ea typeface="Pontano Sans"/>
                <a:cs typeface="Pontano Sans"/>
                <a:sym typeface="Pontano Sans"/>
              </a:rPr>
              <a:t>alpha:</a:t>
            </a:r>
            <a:r>
              <a:rPr b="1" i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 </a:t>
            </a:r>
            <a:r>
              <a:rPr b="1" lang="en">
                <a:solidFill>
                  <a:srgbClr val="000000"/>
                </a:solidFill>
                <a:latin typeface="Pontano Sans"/>
                <a:ea typeface="Pontano Sans"/>
                <a:cs typeface="Pontano Sans"/>
                <a:sym typeface="Pontano Sans"/>
              </a:rPr>
              <a:t>	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-22.47 	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+0.07/-0.08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From the Uniform Posterior Distributions Medians: </a:t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eff</a:t>
            </a: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: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	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251.66 	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+3.25/-3.15	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[K]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alpha:</a:t>
            </a:r>
            <a:r>
              <a:rPr b="1"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-22.46 	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+0.07/-0.07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From the Uniform T</a:t>
            </a:r>
            <a:r>
              <a:rPr baseline="30000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4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Posterior Distributions Medians: </a:t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eff</a:t>
            </a: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: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	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252.11 	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+3.38/-3.28	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[K]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alpha:</a:t>
            </a:r>
            <a:r>
              <a:rPr b="1"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-22.47 	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+0.07/-0.08</a:t>
            </a:r>
            <a:r>
              <a:rPr b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	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The top right corner plot is a sample of the Log-Uniform posterior distributions sampled from the MCMC algorithm, showing a correlation between the </a:t>
            </a: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alpha 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term and the </a:t>
            </a:r>
            <a:r>
              <a:rPr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</a:t>
            </a:r>
            <a:r>
              <a:rPr baseline="-25000" i="1"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eff </a:t>
            </a: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term. </a:t>
            </a:r>
            <a:endParaRPr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The bottom plot is also showcasing 5 iterations of the same MCMC run, all starting from different conditions and arriving at the same final condition, to within error of each other. </a:t>
            </a:r>
            <a:endParaRPr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grpSp>
        <p:nvGrpSpPr>
          <p:cNvPr id="78" name="Google Shape;78;p15"/>
          <p:cNvGrpSpPr/>
          <p:nvPr/>
        </p:nvGrpSpPr>
        <p:grpSpPr>
          <a:xfrm>
            <a:off x="5513400" y="69450"/>
            <a:ext cx="3059700" cy="5004600"/>
            <a:chOff x="5992575" y="65325"/>
            <a:chExt cx="3059700" cy="5004600"/>
          </a:xfrm>
        </p:grpSpPr>
        <p:sp>
          <p:nvSpPr>
            <p:cNvPr id="79" name="Google Shape;79;p15"/>
            <p:cNvSpPr/>
            <p:nvPr/>
          </p:nvSpPr>
          <p:spPr>
            <a:xfrm>
              <a:off x="5992575" y="65325"/>
              <a:ext cx="3059700" cy="5004600"/>
            </a:xfrm>
            <a:prstGeom prst="roundRect">
              <a:avLst>
                <a:gd fmla="val 3676" name="adj"/>
              </a:avLst>
            </a:pr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" name="Google Shape;80;p15"/>
            <p:cNvPicPr preferRelativeResize="0"/>
            <p:nvPr/>
          </p:nvPicPr>
          <p:blipFill rotWithShape="1">
            <a:blip r:embed="rId3">
              <a:alphaModFix/>
            </a:blip>
            <a:srcRect b="5583" l="5499" r="9103" t="11208"/>
            <a:stretch/>
          </p:blipFill>
          <p:spPr>
            <a:xfrm>
              <a:off x="6123435" y="2842675"/>
              <a:ext cx="2797978" cy="2180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5"/>
            <p:cNvPicPr preferRelativeResize="0"/>
            <p:nvPr/>
          </p:nvPicPr>
          <p:blipFill rotWithShape="1">
            <a:blip r:embed="rId4">
              <a:alphaModFix/>
            </a:blip>
            <a:srcRect b="11375" l="11529" r="6583" t="2447"/>
            <a:stretch/>
          </p:blipFill>
          <p:spPr>
            <a:xfrm>
              <a:off x="6220812" y="102750"/>
              <a:ext cx="2603213" cy="273992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