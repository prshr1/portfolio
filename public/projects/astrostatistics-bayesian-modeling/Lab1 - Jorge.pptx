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ontano Sans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PontanoSans-bold.fntdata"/><Relationship Id="rId9" Type="http://schemas.openxmlformats.org/officeDocument/2006/relationships/font" Target="fonts/Pontan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82152f1d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82152f1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82152f1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082152f1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80500" y="134750"/>
            <a:ext cx="6783000" cy="585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99575" y="4132775"/>
            <a:ext cx="3458700" cy="884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99" y="1335350"/>
            <a:ext cx="3703476" cy="253268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4925" y="1347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ntano Sans"/>
                <a:ea typeface="Pontano Sans"/>
                <a:cs typeface="Pontano Sans"/>
                <a:sym typeface="Pontano Sans"/>
              </a:rPr>
              <a:t>LAB 1: Hubble Time - </a:t>
            </a:r>
            <a:r>
              <a:rPr lang="en" sz="2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Jorge Casas, Pablo Drake</a:t>
            </a:r>
            <a:endParaRPr sz="26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99575" y="4113425"/>
            <a:ext cx="3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Edwin Hubble (1929) plot of distant galaxies and redshifted recessional velocities. T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he first estimate of the Hubble Constant, H</a:t>
            </a:r>
            <a:r>
              <a:rPr baseline="-25000" lang="en" sz="1200">
                <a:latin typeface="Pontano Sans"/>
                <a:ea typeface="Pontano Sans"/>
                <a:cs typeface="Pontano Sans"/>
                <a:sym typeface="Pontano Sans"/>
              </a:rPr>
              <a:t>0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, was imprecise due to uncertainty inf distance to sampled galaxies.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089300" y="4132775"/>
            <a:ext cx="3458700" cy="884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72950" y="719750"/>
            <a:ext cx="819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Today, we have data from high-redshift SN (</a:t>
            </a:r>
            <a:r>
              <a:rPr i="1" lang="en">
                <a:latin typeface="Pontano Sans"/>
                <a:ea typeface="Pontano Sans"/>
                <a:cs typeface="Pontano Sans"/>
                <a:sym typeface="Pontano Sans"/>
              </a:rPr>
              <a:t>reference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), allowing us to compute 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H</a:t>
            </a:r>
            <a:r>
              <a:rPr baseline="-25000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0 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and its related Hubble time. Through this calculation, we will answer 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the question of 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what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is the age of our Universe?</a:t>
            </a:r>
            <a:endParaRPr b="1" baseline="-250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89288" y="4113425"/>
            <a:ext cx="3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Type 1A Supernova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sampling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offers a more precise approach to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measure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the distance using these events as “standard candles” for the distance modulus to recalculate the Hubble Constant, 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H</a:t>
            </a:r>
            <a:r>
              <a:rPr baseline="-25000"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0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.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5566" l="4667" r="9369" t="11224"/>
          <a:stretch/>
        </p:blipFill>
        <p:spPr>
          <a:xfrm>
            <a:off x="5029400" y="1245088"/>
            <a:ext cx="3427302" cy="265332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7825" y="3830600"/>
            <a:ext cx="48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Hubble, E. P. (1929) Proc. Natl. Acad. Sci. USA 15, 168–173. </a:t>
            </a:r>
            <a:endParaRPr i="1" sz="10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799800" y="3830600"/>
            <a:ext cx="40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000">
                <a:latin typeface="Pontano Sans"/>
                <a:ea typeface="Pontano Sans"/>
                <a:cs typeface="Pontano Sans"/>
                <a:sym typeface="Pontano Sans"/>
              </a:rPr>
              <a:t>Filippenko, A. V. &amp; Riess, A. G., 1998, Physics Reports, 307, 31</a:t>
            </a:r>
            <a:endParaRPr i="1" sz="1000">
              <a:latin typeface="Pontano Sans"/>
              <a:ea typeface="Pontano Sans"/>
              <a:cs typeface="Pontano Sans"/>
              <a:sym typeface="Pontan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277025" y="50150"/>
            <a:ext cx="4252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The relationship between distance and velocity seems linear. Furthermore, Hubble’s calculation presupposes this linearity (by assuming a constantly expanding Universe)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Using the error data provided by </a:t>
            </a:r>
            <a:r>
              <a:rPr i="1"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Filippenko, A. V. &amp; Riess, A. G., 1998,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we have carried out a weighted linear fit using np.polyfit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We have also solved the normal equation as a way to check the resulting gradient and y-intercept parameters</a:t>
            </a:r>
            <a:endParaRPr sz="120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Lastly, we completed a bootstrapping approach, with 1000 samples. An error term was added to each sampled point in each bootstrap sample, determined by randomly sampling from a Normal distribution with standard deviation equal to the measurement uncertainty of the respective sampled point.</a:t>
            </a:r>
            <a:endParaRPr sz="130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529518" y="149702"/>
            <a:ext cx="4472433" cy="3991244"/>
          </a:xfrm>
          <a:prstGeom prst="roundRect">
            <a:avLst>
              <a:gd fmla="val 3676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9264" t="0"/>
          <a:stretch/>
        </p:blipFill>
        <p:spPr>
          <a:xfrm>
            <a:off x="4646104" y="344768"/>
            <a:ext cx="4239259" cy="3736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4"/>
          <p:cNvGrpSpPr/>
          <p:nvPr/>
        </p:nvGrpSpPr>
        <p:grpSpPr>
          <a:xfrm>
            <a:off x="850175" y="2957325"/>
            <a:ext cx="3106200" cy="1974900"/>
            <a:chOff x="1011125" y="2957325"/>
            <a:chExt cx="3106200" cy="1974900"/>
          </a:xfrm>
        </p:grpSpPr>
        <p:sp>
          <p:nvSpPr>
            <p:cNvPr id="73" name="Google Shape;73;p14"/>
            <p:cNvSpPr/>
            <p:nvPr/>
          </p:nvSpPr>
          <p:spPr>
            <a:xfrm>
              <a:off x="1011125" y="2957325"/>
              <a:ext cx="3106200" cy="1974900"/>
            </a:xfrm>
            <a:prstGeom prst="roundRect">
              <a:avLst>
                <a:gd fmla="val 3676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" name="Google Shape;74;p14"/>
            <p:cNvPicPr preferRelativeResize="0"/>
            <p:nvPr/>
          </p:nvPicPr>
          <p:blipFill rotWithShape="1">
            <a:blip r:embed="rId4">
              <a:alphaModFix/>
            </a:blip>
            <a:srcRect b="0" l="0" r="9222" t="10305"/>
            <a:stretch/>
          </p:blipFill>
          <p:spPr>
            <a:xfrm>
              <a:off x="1166250" y="3062150"/>
              <a:ext cx="2795949" cy="1841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5"/>
          <p:cNvGrpSpPr/>
          <p:nvPr/>
        </p:nvGrpSpPr>
        <p:grpSpPr>
          <a:xfrm>
            <a:off x="2459081" y="1744347"/>
            <a:ext cx="2912344" cy="2916532"/>
            <a:chOff x="238947" y="2109797"/>
            <a:chExt cx="2794956" cy="2798975"/>
          </a:xfrm>
        </p:grpSpPr>
        <p:sp>
          <p:nvSpPr>
            <p:cNvPr id="80" name="Google Shape;80;p15"/>
            <p:cNvSpPr/>
            <p:nvPr/>
          </p:nvSpPr>
          <p:spPr>
            <a:xfrm>
              <a:off x="238947" y="2109797"/>
              <a:ext cx="2794956" cy="2798973"/>
            </a:xfrm>
            <a:prstGeom prst="roundRect">
              <a:avLst>
                <a:gd fmla="val 3676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15"/>
            <p:cNvPicPr preferRelativeResize="0"/>
            <p:nvPr/>
          </p:nvPicPr>
          <p:blipFill rotWithShape="1">
            <a:blip r:embed="rId3">
              <a:alphaModFix/>
            </a:blip>
            <a:srcRect b="3781" l="4384" r="5207" t="0"/>
            <a:stretch/>
          </p:blipFill>
          <p:spPr>
            <a:xfrm>
              <a:off x="297977" y="2109797"/>
              <a:ext cx="2629936" cy="2798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15"/>
          <p:cNvSpPr txBox="1"/>
          <p:nvPr/>
        </p:nvSpPr>
        <p:spPr>
          <a:xfrm>
            <a:off x="238950" y="109250"/>
            <a:ext cx="474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From the linear fit, we find: </a:t>
            </a:r>
            <a:endParaRPr>
              <a:solidFill>
                <a:srgbClr val="000000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Linear model slope, H</a:t>
            </a:r>
            <a:r>
              <a:rPr baseline="-25000" lang="en" sz="1300">
                <a:latin typeface="Pontano Sans"/>
                <a:ea typeface="Pontano Sans"/>
                <a:cs typeface="Pontano Sans"/>
                <a:sym typeface="Pontano Sans"/>
              </a:rPr>
              <a:t>o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⁻¹:		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(1.5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4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 ± 0.0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3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)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 x 10</a:t>
            </a:r>
            <a:r>
              <a:rPr b="1" baseline="30000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-2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 	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[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Mpc s km</a:t>
            </a:r>
            <a:r>
              <a:rPr b="1" baseline="30000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-1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]</a:t>
            </a:r>
            <a:endParaRPr b="1">
              <a:solidFill>
                <a:srgbClr val="000000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A</a:t>
            </a:r>
            <a:r>
              <a:rPr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ge of the universe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: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 	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14.90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± 0.28 	[Gyr]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38950" y="1249663"/>
            <a:ext cx="21615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From the bootstrap approach, we find a similar best-fit gradient, with a slightly larger uncertainty, as can be seen in the lower right-hand histogram.</a:t>
            </a:r>
            <a:endParaRPr b="1">
              <a:solidFill>
                <a:srgbClr val="674EA7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Similarly, we can check the correlation between gradient and right intercept of the bootstrap approach in the corresponding corner plot.</a:t>
            </a:r>
            <a:endParaRPr b="1">
              <a:solidFill>
                <a:srgbClr val="674EA7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5430051" y="67400"/>
            <a:ext cx="3646500" cy="2799000"/>
            <a:chOff x="5497426" y="23675"/>
            <a:chExt cx="3646500" cy="2799000"/>
          </a:xfrm>
        </p:grpSpPr>
        <p:sp>
          <p:nvSpPr>
            <p:cNvPr id="85" name="Google Shape;85;p15"/>
            <p:cNvSpPr/>
            <p:nvPr/>
          </p:nvSpPr>
          <p:spPr>
            <a:xfrm>
              <a:off x="5497426" y="23675"/>
              <a:ext cx="3646500" cy="2799000"/>
            </a:xfrm>
            <a:prstGeom prst="roundRect">
              <a:avLst>
                <a:gd fmla="val 3676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15"/>
            <p:cNvPicPr preferRelativeResize="0"/>
            <p:nvPr/>
          </p:nvPicPr>
          <p:blipFill rotWithShape="1">
            <a:blip r:embed="rId4">
              <a:alphaModFix/>
            </a:blip>
            <a:srcRect b="5617" l="4591" r="9578" t="11764"/>
            <a:stretch/>
          </p:blipFill>
          <p:spPr>
            <a:xfrm>
              <a:off x="5548450" y="71800"/>
              <a:ext cx="3510702" cy="27027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5"/>
          <p:cNvGrpSpPr/>
          <p:nvPr/>
        </p:nvGrpSpPr>
        <p:grpSpPr>
          <a:xfrm>
            <a:off x="5753162" y="2929125"/>
            <a:ext cx="3000300" cy="2070302"/>
            <a:chOff x="5961812" y="2913350"/>
            <a:chExt cx="3000300" cy="2070302"/>
          </a:xfrm>
        </p:grpSpPr>
        <p:sp>
          <p:nvSpPr>
            <p:cNvPr id="88" name="Google Shape;88;p15"/>
            <p:cNvSpPr/>
            <p:nvPr/>
          </p:nvSpPr>
          <p:spPr>
            <a:xfrm>
              <a:off x="5961812" y="2913350"/>
              <a:ext cx="3000300" cy="2070300"/>
            </a:xfrm>
            <a:prstGeom prst="roundRect">
              <a:avLst>
                <a:gd fmla="val 3676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9" name="Google Shape;89;p15"/>
            <p:cNvPicPr preferRelativeResize="0"/>
            <p:nvPr/>
          </p:nvPicPr>
          <p:blipFill rotWithShape="1">
            <a:blip r:embed="rId5">
              <a:alphaModFix/>
            </a:blip>
            <a:srcRect b="0" l="0" r="8925" t="10249"/>
            <a:stretch/>
          </p:blipFill>
          <p:spPr>
            <a:xfrm>
              <a:off x="6110099" y="3080326"/>
              <a:ext cx="2703724" cy="1903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